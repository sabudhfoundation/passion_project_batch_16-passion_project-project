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embeddedFontLs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nxqRTZWDriqxglgMRP6+uBd/T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F2660B5-E5AD-4B41-9DAE-0C8B3363647A}">
  <a:tblStyle styleId="{7F2660B5-E5AD-4B41-9DAE-0C8B3363647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g3d7e6575dfc_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g3d7e6575dfc_1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g3d7e6575dfc_1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1" name="Google Shape;46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hyperlink" Target="https://github.com/yuezunli/celeb-deepfakeforensics" TargetMode="External"/><Relationship Id="rId4" Type="http://schemas.openxmlformats.org/officeDocument/2006/relationships/hyperlink" Target="https://github.com/yuezunli/celeb-deepfakeforensics" TargetMode="External"/><Relationship Id="rId5" Type="http://schemas.openxmlformats.org/officeDocument/2006/relationships/hyperlink" Target="https://www.kaggle.com/competitions/deepfake-detection-challenge/data" TargetMode="External"/><Relationship Id="rId6" Type="http://schemas.openxmlformats.org/officeDocument/2006/relationships/hyperlink" Target="https://github.com/OpenTAI/wild-deepfake" TargetMode="External"/><Relationship Id="rId7" Type="http://schemas.openxmlformats.org/officeDocument/2006/relationships/hyperlink" Target="https://github.com/DASH-Lab/FakeAVCeleb"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1" Type="http://schemas.openxmlformats.org/officeDocument/2006/relationships/hyperlink" Target="https://proceedings.neurips.cc/paper_files/paper/2024/file/7d6930fd71740eae21224a5ffb70cb8c-Paper-Conference.pdf" TargetMode="External"/><Relationship Id="rId10" Type="http://schemas.openxmlformats.org/officeDocument/2006/relationships/hyperlink" Target="https://proceedings.neurips.cc/paper_files/paper/2024/file/7d6930fd71740eae21224a5ffb70cb8c-Paper-Conference.pdf" TargetMode="External"/><Relationship Id="rId13" Type="http://schemas.openxmlformats.org/officeDocument/2006/relationships/hyperlink" Target="https://pmc.ncbi.nlm.nih.gov/articles/PMC12508882/" TargetMode="External"/><Relationship Id="rId12" Type="http://schemas.openxmlformats.org/officeDocument/2006/relationships/hyperlink" Target="https://arxiv.org/abs/1911.05351" TargetMode="External"/><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arxiv.org/abs/2103.02406" TargetMode="External"/><Relationship Id="rId4" Type="http://schemas.openxmlformats.org/officeDocument/2006/relationships/hyperlink" Target="https://arxiv.org/abs/2103.02406" TargetMode="External"/><Relationship Id="rId9" Type="http://schemas.openxmlformats.org/officeDocument/2006/relationships/hyperlink" Target="https://arxiv.org/pdf/2406.02951v1" TargetMode="External"/><Relationship Id="rId15" Type="http://schemas.openxmlformats.org/officeDocument/2006/relationships/hyperlink" Target="https://doi.org/10.30574/gjeta.2024.20.2.0148" TargetMode="External"/><Relationship Id="rId14" Type="http://schemas.openxmlformats.org/officeDocument/2006/relationships/hyperlink" Target="https://doi.org/10.30574/gjeta.2024.20.2.0148" TargetMode="External"/><Relationship Id="rId5" Type="http://schemas.openxmlformats.org/officeDocument/2006/relationships/hyperlink" Target="https://arxiv.org/abs/2207.10402" TargetMode="External"/><Relationship Id="rId6" Type="http://schemas.openxmlformats.org/officeDocument/2006/relationships/hyperlink" Target="https://www.sciencedirect.com/science/article/abs/pii/S0952197623016275" TargetMode="External"/><Relationship Id="rId7" Type="http://schemas.openxmlformats.org/officeDocument/2006/relationships/hyperlink" Target="https://arxiv.org/abs/2312.04961" TargetMode="External"/><Relationship Id="rId8" Type="http://schemas.openxmlformats.org/officeDocument/2006/relationships/hyperlink" Target="http://cvlab.cse.msu.edu/project-ffd.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0"/>
        </a:solidFill>
      </p:bgPr>
    </p:bg>
    <p:spTree>
      <p:nvGrpSpPr>
        <p:cNvPr id="15" name="Shape 15"/>
        <p:cNvGrpSpPr/>
        <p:nvPr/>
      </p:nvGrpSpPr>
      <p:grpSpPr>
        <a:xfrm>
          <a:off x="0" y="0"/>
          <a:ext cx="0" cy="0"/>
          <a:chOff x="0" y="0"/>
          <a:chExt cx="0" cy="0"/>
        </a:xfrm>
      </p:grpSpPr>
      <p:sp>
        <p:nvSpPr>
          <p:cNvPr id="16" name="Google Shape;16;p1"/>
          <p:cNvSpPr/>
          <p:nvPr/>
        </p:nvSpPr>
        <p:spPr>
          <a:xfrm>
            <a:off x="0" y="0"/>
            <a:ext cx="9144000" cy="91440"/>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0" y="5052060"/>
            <a:ext cx="9144000" cy="91440"/>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5760720" y="91440"/>
            <a:ext cx="3383280" cy="4960620"/>
          </a:xfrm>
          <a:prstGeom prst="rect">
            <a:avLst/>
          </a:prstGeom>
          <a:solidFill>
            <a:srgbClr val="132252"/>
          </a:solidFill>
          <a:ln cap="flat" cmpd="sng" w="12700">
            <a:solidFill>
              <a:srgbClr val="13225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457200" y="822960"/>
            <a:ext cx="51206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Deepfake Detection</a:t>
            </a:r>
            <a:endParaRPr b="0" i="0" sz="3600" u="none" cap="none" strike="noStrike">
              <a:solidFill>
                <a:schemeClr val="dk1"/>
              </a:solidFill>
              <a:latin typeface="Calibri"/>
              <a:ea typeface="Calibri"/>
              <a:cs typeface="Calibri"/>
              <a:sym typeface="Calibri"/>
            </a:endParaRPr>
          </a:p>
        </p:txBody>
      </p:sp>
      <p:sp>
        <p:nvSpPr>
          <p:cNvPr id="20" name="Google Shape;20;p1"/>
          <p:cNvSpPr/>
          <p:nvPr/>
        </p:nvSpPr>
        <p:spPr>
          <a:xfrm>
            <a:off x="457200" y="1783080"/>
            <a:ext cx="51206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7B2A"/>
              </a:buClr>
              <a:buSzPts val="3400"/>
              <a:buFont typeface="Calibri"/>
              <a:buNone/>
            </a:pPr>
            <a:r>
              <a:rPr b="1" i="0" lang="en-US" sz="3400" u="none" cap="none" strike="noStrike">
                <a:solidFill>
                  <a:srgbClr val="E07B2A"/>
                </a:solidFill>
                <a:latin typeface="Calibri"/>
                <a:ea typeface="Calibri"/>
                <a:cs typeface="Calibri"/>
                <a:sym typeface="Calibri"/>
              </a:rPr>
              <a:t>Image · Video · Audio</a:t>
            </a:r>
            <a:endParaRPr b="0" i="0" sz="3400" u="none" cap="none" strike="noStrike">
              <a:solidFill>
                <a:schemeClr val="dk1"/>
              </a:solidFill>
              <a:latin typeface="Calibri"/>
              <a:ea typeface="Calibri"/>
              <a:cs typeface="Calibri"/>
              <a:sym typeface="Calibri"/>
            </a:endParaRPr>
          </a:p>
        </p:txBody>
      </p:sp>
      <p:cxnSp>
        <p:nvCxnSpPr>
          <p:cNvPr id="21" name="Google Shape;21;p1"/>
          <p:cNvCxnSpPr/>
          <p:nvPr/>
        </p:nvCxnSpPr>
        <p:spPr>
          <a:xfrm>
            <a:off x="457200" y="2606040"/>
            <a:ext cx="4754880" cy="0"/>
          </a:xfrm>
          <a:prstGeom prst="straightConnector1">
            <a:avLst/>
          </a:prstGeom>
          <a:noFill/>
          <a:ln cap="flat" cmpd="sng" w="19050">
            <a:solidFill>
              <a:srgbClr val="3A5080"/>
            </a:solidFill>
            <a:prstDash val="solid"/>
            <a:round/>
            <a:headEnd len="sm" w="sm" type="none"/>
            <a:tailEnd len="sm" w="sm" type="none"/>
          </a:ln>
        </p:spPr>
      </p:cxnSp>
      <p:sp>
        <p:nvSpPr>
          <p:cNvPr id="22" name="Google Shape;22;p1"/>
          <p:cNvSpPr/>
          <p:nvPr/>
        </p:nvSpPr>
        <p:spPr>
          <a:xfrm>
            <a:off x="457200" y="2697480"/>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BFDA"/>
              </a:buClr>
              <a:buSzPts val="1300"/>
              <a:buFont typeface="Calibri"/>
              <a:buNone/>
            </a:pPr>
            <a:r>
              <a:rPr i="1" lang="en-US" sz="1300">
                <a:solidFill>
                  <a:srgbClr val="A8BFDA"/>
                </a:solidFill>
                <a:latin typeface="Calibri"/>
                <a:ea typeface="Calibri"/>
                <a:cs typeface="Calibri"/>
                <a:sym typeface="Calibri"/>
              </a:rPr>
              <a:t>A Study of Deepfake Detection with Focus on Images</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457200" y="3337560"/>
            <a:ext cx="1371600" cy="384048"/>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457200" y="3337560"/>
            <a:ext cx="1371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IMAGE</a:t>
            </a:r>
            <a:endParaRPr b="0" i="0" sz="1100" u="none" cap="none" strike="noStrike">
              <a:solidFill>
                <a:schemeClr val="dk1"/>
              </a:solidFill>
              <a:latin typeface="Calibri"/>
              <a:ea typeface="Calibri"/>
              <a:cs typeface="Calibri"/>
              <a:sym typeface="Calibri"/>
            </a:endParaRPr>
          </a:p>
        </p:txBody>
      </p:sp>
      <p:sp>
        <p:nvSpPr>
          <p:cNvPr id="25" name="Google Shape;25;p1"/>
          <p:cNvSpPr/>
          <p:nvPr/>
        </p:nvSpPr>
        <p:spPr>
          <a:xfrm>
            <a:off x="2057400" y="3337560"/>
            <a:ext cx="1371600" cy="384048"/>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2057400" y="3337560"/>
            <a:ext cx="1371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VIDEO</a:t>
            </a:r>
            <a:endParaRPr b="0" i="0" sz="1100" u="none" cap="none" strike="noStrike">
              <a:solidFill>
                <a:schemeClr val="dk1"/>
              </a:solidFill>
              <a:latin typeface="Calibri"/>
              <a:ea typeface="Calibri"/>
              <a:cs typeface="Calibri"/>
              <a:sym typeface="Calibri"/>
            </a:endParaRPr>
          </a:p>
        </p:txBody>
      </p:sp>
      <p:sp>
        <p:nvSpPr>
          <p:cNvPr id="27" name="Google Shape;27;p1"/>
          <p:cNvSpPr/>
          <p:nvPr/>
        </p:nvSpPr>
        <p:spPr>
          <a:xfrm>
            <a:off x="3657600" y="3337560"/>
            <a:ext cx="1371600" cy="384048"/>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3657600" y="3337560"/>
            <a:ext cx="13716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AUDIO</a:t>
            </a:r>
            <a:endParaRPr b="0" i="0" sz="1100" u="none" cap="none" strike="noStrike">
              <a:solidFill>
                <a:schemeClr val="dk1"/>
              </a:solidFill>
              <a:latin typeface="Calibri"/>
              <a:ea typeface="Calibri"/>
              <a:cs typeface="Calibri"/>
              <a:sym typeface="Calibri"/>
            </a:endParaRPr>
          </a:p>
        </p:txBody>
      </p:sp>
      <p:sp>
        <p:nvSpPr>
          <p:cNvPr id="29" name="Google Shape;29;p1"/>
          <p:cNvSpPr/>
          <p:nvPr/>
        </p:nvSpPr>
        <p:spPr>
          <a:xfrm>
            <a:off x="5849025" y="261743"/>
            <a:ext cx="29262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90B0"/>
              </a:buClr>
              <a:buSzPts val="950"/>
              <a:buFont typeface="Calibri"/>
              <a:buNone/>
            </a:pPr>
            <a:r>
              <a:rPr b="1" i="0" lang="en-US" sz="1200" u="none" cap="none" strike="noStrike">
                <a:solidFill>
                  <a:srgbClr val="7090B0"/>
                </a:solidFill>
                <a:latin typeface="Calibri"/>
                <a:ea typeface="Calibri"/>
                <a:cs typeface="Calibri"/>
                <a:sym typeface="Calibri"/>
              </a:rPr>
              <a:t>Project:</a:t>
            </a:r>
            <a:r>
              <a:rPr b="1" lang="en-US" sz="1200">
                <a:solidFill>
                  <a:srgbClr val="FFFFFF"/>
                </a:solidFill>
                <a:latin typeface="Calibri"/>
                <a:ea typeface="Calibri"/>
                <a:cs typeface="Calibri"/>
                <a:sym typeface="Calibri"/>
              </a:rPr>
              <a:t>Deepfake Detection </a:t>
            </a:r>
            <a:endParaRPr b="1" sz="1200">
              <a:solidFill>
                <a:srgbClr val="7090B0"/>
              </a:solidFill>
              <a:latin typeface="Calibri"/>
              <a:ea typeface="Calibri"/>
              <a:cs typeface="Calibri"/>
              <a:sym typeface="Calibri"/>
            </a:endParaRPr>
          </a:p>
        </p:txBody>
      </p:sp>
      <p:sp>
        <p:nvSpPr>
          <p:cNvPr id="30" name="Google Shape;30;p1"/>
          <p:cNvSpPr/>
          <p:nvPr/>
        </p:nvSpPr>
        <p:spPr>
          <a:xfrm>
            <a:off x="5849025" y="693574"/>
            <a:ext cx="2926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90B0"/>
              </a:buClr>
              <a:buSzPts val="950"/>
              <a:buFont typeface="Calibri"/>
              <a:buNone/>
            </a:pPr>
            <a:r>
              <a:rPr b="1" i="0" lang="en-US" sz="1150" u="none" cap="none" strike="noStrike">
                <a:solidFill>
                  <a:srgbClr val="7090B0"/>
                </a:solidFill>
                <a:latin typeface="Calibri"/>
                <a:ea typeface="Calibri"/>
                <a:cs typeface="Calibri"/>
                <a:sym typeface="Calibri"/>
              </a:rPr>
              <a:t>Organization:</a:t>
            </a:r>
            <a:endParaRPr b="0" i="0" sz="1150" u="none" cap="none" strike="noStrike">
              <a:solidFill>
                <a:schemeClr val="dk1"/>
              </a:solidFill>
              <a:latin typeface="Calibri"/>
              <a:ea typeface="Calibri"/>
              <a:cs typeface="Calibri"/>
              <a:sym typeface="Calibri"/>
            </a:endParaRPr>
          </a:p>
        </p:txBody>
      </p:sp>
      <p:sp>
        <p:nvSpPr>
          <p:cNvPr id="31" name="Google Shape;31;p1"/>
          <p:cNvSpPr/>
          <p:nvPr/>
        </p:nvSpPr>
        <p:spPr>
          <a:xfrm>
            <a:off x="6660000" y="2266100"/>
            <a:ext cx="14892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Sab</a:t>
            </a:r>
            <a:r>
              <a:rPr lang="en-US" sz="1050">
                <a:solidFill>
                  <a:srgbClr val="FFFFFF"/>
                </a:solidFill>
                <a:latin typeface="Calibri"/>
                <a:ea typeface="Calibri"/>
                <a:cs typeface="Calibri"/>
                <a:sym typeface="Calibri"/>
              </a:rPr>
              <a:t>udh</a:t>
            </a:r>
            <a:r>
              <a:rPr b="0" i="0" lang="en-US" sz="1050" u="none" cap="none" strike="noStrike">
                <a:solidFill>
                  <a:srgbClr val="FFFFFF"/>
                </a:solidFill>
                <a:latin typeface="Calibri"/>
                <a:ea typeface="Calibri"/>
                <a:cs typeface="Calibri"/>
                <a:sym typeface="Calibri"/>
              </a:rPr>
              <a:t> Foundation</a:t>
            </a:r>
            <a:endParaRPr b="0" i="0" sz="1050" u="none" cap="none" strike="noStrike">
              <a:solidFill>
                <a:schemeClr val="dk1"/>
              </a:solidFill>
              <a:latin typeface="Calibri"/>
              <a:ea typeface="Calibri"/>
              <a:cs typeface="Calibri"/>
              <a:sym typeface="Calibri"/>
            </a:endParaRPr>
          </a:p>
        </p:txBody>
      </p:sp>
      <p:sp>
        <p:nvSpPr>
          <p:cNvPr id="32" name="Google Shape;32;p1"/>
          <p:cNvSpPr/>
          <p:nvPr/>
        </p:nvSpPr>
        <p:spPr>
          <a:xfrm>
            <a:off x="5849025" y="2620300"/>
            <a:ext cx="2926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90B0"/>
              </a:buClr>
              <a:buSzPts val="950"/>
              <a:buFont typeface="Calibri"/>
              <a:buNone/>
            </a:pPr>
            <a:r>
              <a:rPr b="1" i="0" lang="en-US" sz="950" u="none" cap="none" strike="noStrike">
                <a:solidFill>
                  <a:srgbClr val="7090B0"/>
                </a:solidFill>
                <a:latin typeface="Calibri"/>
                <a:ea typeface="Calibri"/>
                <a:cs typeface="Calibri"/>
                <a:sym typeface="Calibri"/>
              </a:rPr>
              <a:t>Team Members:</a:t>
            </a:r>
            <a:endParaRPr b="0" i="0" sz="950" u="none" cap="none" strike="noStrike">
              <a:solidFill>
                <a:schemeClr val="dk1"/>
              </a:solidFill>
              <a:latin typeface="Calibri"/>
              <a:ea typeface="Calibri"/>
              <a:cs typeface="Calibri"/>
              <a:sym typeface="Calibri"/>
            </a:endParaRPr>
          </a:p>
        </p:txBody>
      </p:sp>
      <p:sp>
        <p:nvSpPr>
          <p:cNvPr id="33" name="Google Shape;33;p1"/>
          <p:cNvSpPr/>
          <p:nvPr/>
        </p:nvSpPr>
        <p:spPr>
          <a:xfrm>
            <a:off x="5989250" y="2875000"/>
            <a:ext cx="2926200" cy="83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Vanshika Vaidya</a:t>
            </a:r>
            <a:endParaRPr sz="10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Gunuru Hemanth Kumar</a:t>
            </a:r>
            <a:endParaRPr b="0" i="0" sz="10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Navroop Singh</a:t>
            </a:r>
            <a:r>
              <a:rPr b="0" i="0" lang="en-US" sz="1050" u="none" cap="none" strike="noStrike">
                <a:solidFill>
                  <a:srgbClr val="FFFFFF"/>
                </a:solidFill>
                <a:latin typeface="Calibri"/>
                <a:ea typeface="Calibri"/>
                <a:cs typeface="Calibri"/>
                <a:sym typeface="Calibri"/>
              </a:rPr>
              <a:t>  </a:t>
            </a:r>
            <a:endParaRPr sz="1050">
              <a:solidFill>
                <a:srgbClr val="FFFFFF"/>
              </a:solidFill>
              <a:latin typeface="Calibri"/>
              <a:ea typeface="Calibri"/>
              <a:cs typeface="Calibri"/>
              <a:sym typeface="Calibri"/>
            </a:endParaRPr>
          </a:p>
          <a:p>
            <a:pPr indent="0" lvl="0" marL="0" marR="0" rtl="0" algn="l">
              <a:spcBef>
                <a:spcPts val="0"/>
              </a:spcBef>
              <a:spcAft>
                <a:spcPts val="0"/>
              </a:spcAft>
              <a:buClr>
                <a:srgbClr val="FFFFFF"/>
              </a:buClr>
              <a:buSzPts val="1050"/>
              <a:buFont typeface="Calibri"/>
              <a:buNone/>
            </a:pPr>
            <a:r>
              <a:rPr lang="en-US" sz="1050">
                <a:solidFill>
                  <a:srgbClr val="FFFFFF"/>
                </a:solidFill>
                <a:latin typeface="Calibri"/>
                <a:ea typeface="Calibri"/>
                <a:cs typeface="Calibri"/>
                <a:sym typeface="Calibri"/>
              </a:rPr>
              <a:t>Liyakat Hussain</a:t>
            </a:r>
            <a:endParaRPr b="0" i="0" sz="1050" u="none" cap="none" strike="noStrike">
              <a:solidFill>
                <a:schemeClr val="dk1"/>
              </a:solidFill>
              <a:latin typeface="Calibri"/>
              <a:ea typeface="Calibri"/>
              <a:cs typeface="Calibri"/>
              <a:sym typeface="Calibri"/>
            </a:endParaRPr>
          </a:p>
        </p:txBody>
      </p:sp>
      <p:sp>
        <p:nvSpPr>
          <p:cNvPr id="34" name="Google Shape;34;p1"/>
          <p:cNvSpPr/>
          <p:nvPr/>
        </p:nvSpPr>
        <p:spPr>
          <a:xfrm>
            <a:off x="5849025" y="3890650"/>
            <a:ext cx="8511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90B0"/>
              </a:buClr>
              <a:buSzPts val="950"/>
              <a:buFont typeface="Calibri"/>
              <a:buNone/>
            </a:pPr>
            <a:r>
              <a:rPr b="1" i="0" lang="en-US" sz="1150" u="none" cap="none" strike="noStrike">
                <a:solidFill>
                  <a:srgbClr val="7090B0"/>
                </a:solidFill>
                <a:latin typeface="Calibri"/>
                <a:ea typeface="Calibri"/>
                <a:cs typeface="Calibri"/>
                <a:sym typeface="Calibri"/>
              </a:rPr>
              <a:t>Mentors:</a:t>
            </a:r>
            <a:endParaRPr b="0" i="0" sz="1150" u="none" cap="none" strike="noStrike">
              <a:solidFill>
                <a:schemeClr val="dk1"/>
              </a:solidFill>
              <a:latin typeface="Calibri"/>
              <a:ea typeface="Calibri"/>
              <a:cs typeface="Calibri"/>
              <a:sym typeface="Calibri"/>
            </a:endParaRPr>
          </a:p>
        </p:txBody>
      </p:sp>
      <p:sp>
        <p:nvSpPr>
          <p:cNvPr id="35" name="Google Shape;35;p1"/>
          <p:cNvSpPr/>
          <p:nvPr/>
        </p:nvSpPr>
        <p:spPr>
          <a:xfrm>
            <a:off x="6477047" y="3831250"/>
            <a:ext cx="2148900" cy="347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050"/>
              <a:buFont typeface="Calibri"/>
              <a:buNone/>
            </a:pPr>
            <a:r>
              <a:rPr lang="en-US" sz="1150">
                <a:solidFill>
                  <a:schemeClr val="lt1"/>
                </a:solidFill>
                <a:highlight>
                  <a:schemeClr val="dk1"/>
                </a:highlight>
                <a:latin typeface="Calibri"/>
                <a:ea typeface="Calibri"/>
                <a:cs typeface="Calibri"/>
                <a:sym typeface="Calibri"/>
              </a:rPr>
              <a:t>Mr .</a:t>
            </a:r>
            <a:r>
              <a:rPr lang="en-US" sz="1150">
                <a:solidFill>
                  <a:srgbClr val="E3E3E3"/>
                </a:solidFill>
                <a:highlight>
                  <a:schemeClr val="dk1"/>
                </a:highlight>
                <a:latin typeface="Roboto"/>
                <a:ea typeface="Roboto"/>
                <a:cs typeface="Roboto"/>
                <a:sym typeface="Roboto"/>
              </a:rPr>
              <a:t>Bappaditya Chakraborty</a:t>
            </a:r>
            <a:endParaRPr b="0" i="0" sz="1150" u="none" cap="none" strike="noStrike">
              <a:solidFill>
                <a:schemeClr val="dk1"/>
              </a:solidFill>
              <a:highlight>
                <a:schemeClr val="dk1"/>
              </a:highlight>
              <a:latin typeface="Calibri"/>
              <a:ea typeface="Calibri"/>
              <a:cs typeface="Calibri"/>
              <a:sym typeface="Calibri"/>
            </a:endParaRPr>
          </a:p>
        </p:txBody>
      </p:sp>
      <p:sp>
        <p:nvSpPr>
          <p:cNvPr id="36" name="Google Shape;36;p1"/>
          <p:cNvSpPr/>
          <p:nvPr/>
        </p:nvSpPr>
        <p:spPr>
          <a:xfrm>
            <a:off x="5891250" y="4295500"/>
            <a:ext cx="1593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090B0"/>
              </a:buClr>
              <a:buSzPts val="950"/>
              <a:buFont typeface="Calibri"/>
              <a:buNone/>
            </a:pPr>
            <a:r>
              <a:rPr b="1" i="0" lang="en-US" sz="1000" u="none" cap="none" strike="noStrike">
                <a:solidFill>
                  <a:srgbClr val="7090B0"/>
                </a:solidFill>
                <a:latin typeface="Calibri"/>
                <a:ea typeface="Calibri"/>
                <a:cs typeface="Calibri"/>
                <a:sym typeface="Calibri"/>
              </a:rPr>
              <a:t>Date:</a:t>
            </a:r>
            <a:r>
              <a:rPr lang="en-US" sz="1000">
                <a:solidFill>
                  <a:srgbClr val="FFFFFF"/>
                </a:solidFill>
                <a:latin typeface="Calibri"/>
                <a:ea typeface="Calibri"/>
                <a:cs typeface="Calibri"/>
                <a:sym typeface="Calibri"/>
              </a:rPr>
              <a:t> 23 March 2026</a:t>
            </a:r>
            <a:endParaRPr b="1" sz="1000">
              <a:solidFill>
                <a:srgbClr val="7090B0"/>
              </a:solidFill>
              <a:latin typeface="Calibri"/>
              <a:ea typeface="Calibri"/>
              <a:cs typeface="Calibri"/>
              <a:sym typeface="Calibri"/>
            </a:endParaRPr>
          </a:p>
        </p:txBody>
      </p:sp>
      <p:pic>
        <p:nvPicPr>
          <p:cNvPr id="37" name="Google Shape;37;p1"/>
          <p:cNvPicPr preferRelativeResize="0"/>
          <p:nvPr/>
        </p:nvPicPr>
        <p:blipFill rotWithShape="1">
          <a:blip r:embed="rId3">
            <a:alphaModFix/>
          </a:blip>
          <a:srcRect b="0" l="3726" r="0" t="0"/>
          <a:stretch/>
        </p:blipFill>
        <p:spPr>
          <a:xfrm>
            <a:off x="5760725" y="1088800"/>
            <a:ext cx="3383276" cy="1050725"/>
          </a:xfrm>
          <a:prstGeom prst="rect">
            <a:avLst/>
          </a:prstGeom>
          <a:solidFill>
            <a:srgbClr val="132252"/>
          </a:solidFill>
          <a:ln cap="flat" cmpd="sng" w="12700">
            <a:solidFill>
              <a:srgbClr val="132252"/>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42" name="Shape 42"/>
        <p:cNvGrpSpPr/>
        <p:nvPr/>
      </p:nvGrpSpPr>
      <p:grpSpPr>
        <a:xfrm>
          <a:off x="0" y="0"/>
          <a:ext cx="0" cy="0"/>
          <a:chOff x="0" y="0"/>
          <a:chExt cx="0" cy="0"/>
        </a:xfrm>
      </p:grpSpPr>
      <p:sp>
        <p:nvSpPr>
          <p:cNvPr id="43" name="Google Shape;43;g3d7e6575dfc_1_31"/>
          <p:cNvSpPr/>
          <p:nvPr/>
        </p:nvSpPr>
        <p:spPr>
          <a:xfrm>
            <a:off x="0" y="0"/>
            <a:ext cx="164700"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d7e6575dfc_1_31"/>
          <p:cNvSpPr/>
          <p:nvPr/>
        </p:nvSpPr>
        <p:spPr>
          <a:xfrm>
            <a:off x="320040" y="182880"/>
            <a:ext cx="8503800" cy="658500"/>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g3d7e6575dfc_1_31"/>
          <p:cNvSpPr/>
          <p:nvPr/>
        </p:nvSpPr>
        <p:spPr>
          <a:xfrm>
            <a:off x="418500" y="182875"/>
            <a:ext cx="80487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Introduction </a:t>
            </a:r>
            <a:r>
              <a:rPr b="1" lang="en-US" sz="2200">
                <a:solidFill>
                  <a:srgbClr val="FFFFFF"/>
                </a:solidFill>
                <a:latin typeface="Calibri"/>
                <a:ea typeface="Calibri"/>
                <a:cs typeface="Calibri"/>
                <a:sym typeface="Calibri"/>
              </a:rPr>
              <a:t>&amp; Project Overview</a:t>
            </a:r>
            <a:endParaRPr b="0" i="0" sz="2200" u="none" cap="none" strike="noStrike">
              <a:solidFill>
                <a:schemeClr val="dk1"/>
              </a:solidFill>
              <a:latin typeface="Calibri"/>
              <a:ea typeface="Calibri"/>
              <a:cs typeface="Calibri"/>
              <a:sym typeface="Calibri"/>
            </a:endParaRPr>
          </a:p>
        </p:txBody>
      </p:sp>
      <p:sp>
        <p:nvSpPr>
          <p:cNvPr id="46" name="Google Shape;46;g3d7e6575dfc_1_31"/>
          <p:cNvSpPr/>
          <p:nvPr/>
        </p:nvSpPr>
        <p:spPr>
          <a:xfrm>
            <a:off x="320100" y="1440400"/>
            <a:ext cx="8503800" cy="35430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g3d7e6575dfc_1_31"/>
          <p:cNvSpPr/>
          <p:nvPr/>
        </p:nvSpPr>
        <p:spPr>
          <a:xfrm>
            <a:off x="320050" y="884400"/>
            <a:ext cx="8503800" cy="51300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d7e6575dfc_1_31"/>
          <p:cNvSpPr/>
          <p:nvPr/>
        </p:nvSpPr>
        <p:spPr>
          <a:xfrm>
            <a:off x="473100" y="884388"/>
            <a:ext cx="4091400" cy="51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 </a:t>
            </a:r>
            <a:r>
              <a:rPr b="1" lang="en-US" sz="1900">
                <a:solidFill>
                  <a:srgbClr val="FFFFFF"/>
                </a:solidFill>
                <a:latin typeface="Calibri"/>
                <a:ea typeface="Calibri"/>
                <a:cs typeface="Calibri"/>
                <a:sym typeface="Calibri"/>
              </a:rPr>
              <a:t>Brief Introduction</a:t>
            </a:r>
            <a:endParaRPr b="0" i="0" sz="1900" u="none" cap="none" strike="noStrike">
              <a:solidFill>
                <a:schemeClr val="dk1"/>
              </a:solidFill>
              <a:latin typeface="Calibri"/>
              <a:ea typeface="Calibri"/>
              <a:cs typeface="Calibri"/>
              <a:sym typeface="Calibri"/>
            </a:endParaRPr>
          </a:p>
        </p:txBody>
      </p:sp>
      <p:sp>
        <p:nvSpPr>
          <p:cNvPr id="49" name="Google Shape;49;g3d7e6575dfc_1_31"/>
          <p:cNvSpPr/>
          <p:nvPr/>
        </p:nvSpPr>
        <p:spPr>
          <a:xfrm>
            <a:off x="401950" y="1440425"/>
            <a:ext cx="8394600" cy="8889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None/>
            </a:pPr>
            <a:r>
              <a:rPr lang="en-US" sz="1200">
                <a:solidFill>
                  <a:srgbClr val="333333"/>
                </a:solidFill>
                <a:latin typeface="Calibri"/>
                <a:ea typeface="Calibri"/>
                <a:cs typeface="Calibri"/>
                <a:sym typeface="Calibri"/>
              </a:rPr>
              <a:t>Deepfake technology uses artificial intelligence, particularly deep learning, to create or manipulate images, videos, and audio that appear realistic to humans. It combines “deep learning” and “fake” to generate synthetic media that can mimic human appearance and behavior. With the rapid advancement of AI, deepfakes have become more advanced and difficult to detect. These manipulated contents pose serious challenges such as misinformation, identity theft, and threats to digital security. [10]</a:t>
            </a:r>
            <a:endParaRPr sz="1200">
              <a:solidFill>
                <a:srgbClr val="333333"/>
              </a:solidFill>
              <a:latin typeface="Calibri"/>
              <a:ea typeface="Calibri"/>
              <a:cs typeface="Calibri"/>
              <a:sym typeface="Calibri"/>
            </a:endParaRPr>
          </a:p>
          <a:p>
            <a:pPr indent="0" lvl="0" marL="0" rtl="0" algn="just">
              <a:lnSpc>
                <a:spcPct val="115000"/>
              </a:lnSpc>
              <a:spcBef>
                <a:spcPts val="1200"/>
              </a:spcBef>
              <a:spcAft>
                <a:spcPts val="200"/>
              </a:spcAft>
              <a:buNone/>
            </a:pPr>
            <a:r>
              <a:t/>
            </a:r>
            <a:endParaRPr sz="1200">
              <a:solidFill>
                <a:srgbClr val="333333"/>
              </a:solidFill>
              <a:latin typeface="Calibri"/>
              <a:ea typeface="Calibri"/>
              <a:cs typeface="Calibri"/>
              <a:sym typeface="Calibri"/>
            </a:endParaRPr>
          </a:p>
        </p:txBody>
      </p:sp>
      <p:pic>
        <p:nvPicPr>
          <p:cNvPr id="50" name="Google Shape;50;g3d7e6575dfc_1_31"/>
          <p:cNvPicPr preferRelativeResize="0"/>
          <p:nvPr/>
        </p:nvPicPr>
        <p:blipFill>
          <a:blip r:embed="rId3">
            <a:alphaModFix/>
          </a:blip>
          <a:stretch>
            <a:fillRect/>
          </a:stretch>
        </p:blipFill>
        <p:spPr>
          <a:xfrm>
            <a:off x="4597950" y="2537376"/>
            <a:ext cx="4215139" cy="244355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200"/>
              </a:srgbClr>
            </a:outerShdw>
          </a:effectLst>
        </p:spPr>
      </p:pic>
      <p:pic>
        <p:nvPicPr>
          <p:cNvPr id="51" name="Google Shape;51;g3d7e6575dfc_1_31"/>
          <p:cNvPicPr preferRelativeResize="0"/>
          <p:nvPr/>
        </p:nvPicPr>
        <p:blipFill>
          <a:blip r:embed="rId4">
            <a:alphaModFix/>
          </a:blip>
          <a:stretch>
            <a:fillRect/>
          </a:stretch>
        </p:blipFill>
        <p:spPr>
          <a:xfrm>
            <a:off x="575450" y="2537375"/>
            <a:ext cx="3639463" cy="244355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200"/>
              </a:srgbClr>
            </a:outerShdw>
          </a:effectLst>
        </p:spPr>
      </p:pic>
      <p:sp>
        <p:nvSpPr>
          <p:cNvPr id="52" name="Google Shape;52;g3d7e6575dfc_1_31"/>
          <p:cNvSpPr txBox="1"/>
          <p:nvPr/>
        </p:nvSpPr>
        <p:spPr>
          <a:xfrm>
            <a:off x="8291074" y="4660175"/>
            <a:ext cx="679500" cy="20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00"/>
              </a:spcBef>
              <a:spcAft>
                <a:spcPts val="200"/>
              </a:spcAft>
              <a:buNone/>
            </a:pPr>
            <a:r>
              <a:rPr lang="en-US" sz="1200">
                <a:solidFill>
                  <a:srgbClr val="333333"/>
                </a:solidFill>
                <a:latin typeface="Calibri"/>
                <a:ea typeface="Calibri"/>
                <a:cs typeface="Calibri"/>
                <a:sym typeface="Calibri"/>
              </a:rPr>
              <a:t>[9]</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57" name="Shape 57"/>
        <p:cNvGrpSpPr/>
        <p:nvPr/>
      </p:nvGrpSpPr>
      <p:grpSpPr>
        <a:xfrm>
          <a:off x="0" y="0"/>
          <a:ext cx="0" cy="0"/>
          <a:chOff x="0" y="0"/>
          <a:chExt cx="0" cy="0"/>
        </a:xfrm>
      </p:grpSpPr>
      <p:sp>
        <p:nvSpPr>
          <p:cNvPr id="58" name="Google Shape;58;p3"/>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320050" y="182875"/>
            <a:ext cx="8640900" cy="658500"/>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Importance &amp; Relevance</a:t>
            </a:r>
            <a:endParaRPr b="0" i="0" sz="2200" u="none" cap="none" strike="noStrike">
              <a:solidFill>
                <a:schemeClr val="dk1"/>
              </a:solidFill>
              <a:latin typeface="Calibri"/>
              <a:ea typeface="Calibri"/>
              <a:cs typeface="Calibri"/>
              <a:sym typeface="Calibri"/>
            </a:endParaRPr>
          </a:p>
        </p:txBody>
      </p:sp>
      <p:sp>
        <p:nvSpPr>
          <p:cNvPr id="61" name="Google Shape;61;p3"/>
          <p:cNvSpPr/>
          <p:nvPr/>
        </p:nvSpPr>
        <p:spPr>
          <a:xfrm>
            <a:off x="320040" y="987552"/>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320040" y="987552"/>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29768" y="10241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Misinformation &amp; Fake News</a:t>
            </a:r>
            <a:endParaRPr b="0" i="0" sz="1200" u="none" cap="none" strike="noStrike">
              <a:solidFill>
                <a:schemeClr val="dk1"/>
              </a:solidFill>
              <a:latin typeface="Calibri"/>
              <a:ea typeface="Calibri"/>
              <a:cs typeface="Calibri"/>
              <a:sym typeface="Calibri"/>
            </a:endParaRPr>
          </a:p>
        </p:txBody>
      </p:sp>
      <p:sp>
        <p:nvSpPr>
          <p:cNvPr id="64" name="Google Shape;64;p3"/>
          <p:cNvSpPr/>
          <p:nvPr/>
        </p:nvSpPr>
        <p:spPr>
          <a:xfrm>
            <a:off x="429768" y="1408176"/>
            <a:ext cx="2606040" cy="1426464"/>
          </a:xfrm>
          <a:prstGeom prst="rect">
            <a:avLst/>
          </a:prstGeom>
          <a:noFill/>
          <a:ln>
            <a:noFill/>
          </a:ln>
        </p:spPr>
        <p:txBody>
          <a:bodyPr anchorCtr="0" anchor="t" bIns="45700" lIns="91425" spcFirstLastPara="1" rIns="91425" wrap="square" tIns="45700">
            <a:noAutofit/>
          </a:bodyPr>
          <a:lstStyle/>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Fake Images/videos can make people appear to say or do things they never did.</a:t>
            </a:r>
            <a:endParaRPr sz="1100">
              <a:solidFill>
                <a:srgbClr val="2C3E50"/>
              </a:solidFill>
              <a:latin typeface="Calibri"/>
              <a:ea typeface="Calibri"/>
              <a:cs typeface="Calibri"/>
              <a:sym typeface="Calibri"/>
            </a:endParaRPr>
          </a:p>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Makes it harder to trust online content.</a:t>
            </a:r>
            <a:endParaRPr sz="1100">
              <a:solidFill>
                <a:srgbClr val="2C3E50"/>
              </a:solidFill>
              <a:latin typeface="Calibri"/>
              <a:ea typeface="Calibri"/>
              <a:cs typeface="Calibri"/>
              <a:sym typeface="Calibri"/>
            </a:endParaRPr>
          </a:p>
        </p:txBody>
      </p:sp>
      <p:sp>
        <p:nvSpPr>
          <p:cNvPr id="65" name="Google Shape;65;p3"/>
          <p:cNvSpPr/>
          <p:nvPr/>
        </p:nvSpPr>
        <p:spPr>
          <a:xfrm>
            <a:off x="3246120" y="987552"/>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3246120" y="987552"/>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3355848" y="10241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Non consensual Media Manipulation</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3355848" y="1408176"/>
            <a:ext cx="2606040" cy="1426464"/>
          </a:xfrm>
          <a:prstGeom prst="rect">
            <a:avLst/>
          </a:prstGeom>
          <a:noFill/>
          <a:ln>
            <a:noFill/>
          </a:ln>
        </p:spPr>
        <p:txBody>
          <a:bodyPr anchorCtr="0" anchor="t" bIns="45700" lIns="91425" spcFirstLastPara="1" rIns="91425" wrap="square" tIns="45700">
            <a:noAutofit/>
          </a:bodyPr>
          <a:lstStyle/>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Faces can be placed into inappropriate appear to say or do things they never did.</a:t>
            </a:r>
            <a:endParaRPr sz="1100">
              <a:solidFill>
                <a:srgbClr val="2C3E50"/>
              </a:solidFill>
              <a:latin typeface="Calibri"/>
              <a:ea typeface="Calibri"/>
              <a:cs typeface="Calibri"/>
              <a:sym typeface="Calibri"/>
            </a:endParaRPr>
          </a:p>
          <a:p>
            <a:pPr indent="0" lvl="0" marL="457200" marR="0" rtl="0" algn="l">
              <a:spcBef>
                <a:spcPts val="0"/>
              </a:spcBef>
              <a:spcAft>
                <a:spcPts val="0"/>
              </a:spcAft>
              <a:buNone/>
            </a:pPr>
            <a:r>
              <a:t/>
            </a:r>
            <a:endParaRPr sz="1100">
              <a:solidFill>
                <a:srgbClr val="2C3E50"/>
              </a:solidFill>
              <a:latin typeface="Calibri"/>
              <a:ea typeface="Calibri"/>
              <a:cs typeface="Calibri"/>
              <a:sym typeface="Calibri"/>
            </a:endParaRPr>
          </a:p>
        </p:txBody>
      </p:sp>
      <p:sp>
        <p:nvSpPr>
          <p:cNvPr id="69" name="Google Shape;69;p3"/>
          <p:cNvSpPr/>
          <p:nvPr/>
        </p:nvSpPr>
        <p:spPr>
          <a:xfrm>
            <a:off x="6172200" y="987552"/>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6172200" y="987552"/>
            <a:ext cx="2788920" cy="347472"/>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6281928" y="10241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Biometric Security</a:t>
            </a:r>
            <a:endParaRPr b="0" i="0" sz="1200" u="none" cap="none" strike="noStrike">
              <a:solidFill>
                <a:schemeClr val="dk1"/>
              </a:solidFill>
              <a:latin typeface="Calibri"/>
              <a:ea typeface="Calibri"/>
              <a:cs typeface="Calibri"/>
              <a:sym typeface="Calibri"/>
            </a:endParaRPr>
          </a:p>
        </p:txBody>
      </p:sp>
      <p:sp>
        <p:nvSpPr>
          <p:cNvPr id="72" name="Google Shape;72;p3"/>
          <p:cNvSpPr/>
          <p:nvPr/>
        </p:nvSpPr>
        <p:spPr>
          <a:xfrm>
            <a:off x="6281925" y="1408175"/>
            <a:ext cx="2541900" cy="1426500"/>
          </a:xfrm>
          <a:prstGeom prst="rect">
            <a:avLst/>
          </a:prstGeom>
          <a:noFill/>
          <a:ln>
            <a:noFill/>
          </a:ln>
        </p:spPr>
        <p:txBody>
          <a:bodyPr anchorCtr="0" anchor="t" bIns="45700" lIns="91425" spcFirstLastPara="1" rIns="91425" wrap="square" tIns="45700">
            <a:noAutofit/>
          </a:bodyPr>
          <a:lstStyle/>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Deepfakes can fool face </a:t>
            </a:r>
            <a:r>
              <a:rPr lang="en-US" sz="1100">
                <a:solidFill>
                  <a:srgbClr val="2C3E50"/>
                </a:solidFill>
                <a:latin typeface="Calibri"/>
                <a:ea typeface="Calibri"/>
                <a:cs typeface="Calibri"/>
                <a:sym typeface="Calibri"/>
              </a:rPr>
              <a:t>recognition</a:t>
            </a:r>
            <a:r>
              <a:rPr lang="en-US" sz="1100">
                <a:solidFill>
                  <a:srgbClr val="2C3E50"/>
                </a:solidFill>
                <a:latin typeface="Calibri"/>
                <a:ea typeface="Calibri"/>
                <a:cs typeface="Calibri"/>
                <a:sym typeface="Calibri"/>
              </a:rPr>
              <a:t> system.</a:t>
            </a:r>
            <a:endParaRPr sz="1100">
              <a:solidFill>
                <a:srgbClr val="2C3E50"/>
              </a:solidFill>
              <a:latin typeface="Calibri"/>
              <a:ea typeface="Calibri"/>
              <a:cs typeface="Calibri"/>
              <a:sym typeface="Calibri"/>
            </a:endParaRPr>
          </a:p>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It creates risks for security and social harm.</a:t>
            </a:r>
            <a:endParaRPr sz="1100">
              <a:solidFill>
                <a:srgbClr val="2C3E50"/>
              </a:solidFill>
              <a:latin typeface="Calibri"/>
              <a:ea typeface="Calibri"/>
              <a:cs typeface="Calibri"/>
              <a:sym typeface="Calibri"/>
            </a:endParaRPr>
          </a:p>
        </p:txBody>
      </p:sp>
      <p:sp>
        <p:nvSpPr>
          <p:cNvPr id="73" name="Google Shape;73;p3"/>
          <p:cNvSpPr/>
          <p:nvPr/>
        </p:nvSpPr>
        <p:spPr>
          <a:xfrm>
            <a:off x="310975" y="2907800"/>
            <a:ext cx="2788800" cy="20037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320040" y="3044952"/>
            <a:ext cx="2788920" cy="3474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429768" y="30815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Fraud &amp; Scams</a:t>
            </a:r>
            <a:endParaRPr b="0" i="0" sz="1200" u="none" cap="none" strike="noStrike">
              <a:solidFill>
                <a:schemeClr val="dk1"/>
              </a:solidFill>
              <a:latin typeface="Calibri"/>
              <a:ea typeface="Calibri"/>
              <a:cs typeface="Calibri"/>
              <a:sym typeface="Calibri"/>
            </a:endParaRPr>
          </a:p>
        </p:txBody>
      </p:sp>
      <p:sp>
        <p:nvSpPr>
          <p:cNvPr id="76" name="Google Shape;76;p3"/>
          <p:cNvSpPr/>
          <p:nvPr/>
        </p:nvSpPr>
        <p:spPr>
          <a:xfrm>
            <a:off x="429775" y="3465575"/>
            <a:ext cx="2606100" cy="1036500"/>
          </a:xfrm>
          <a:prstGeom prst="rect">
            <a:avLst/>
          </a:prstGeom>
          <a:noFill/>
          <a:ln>
            <a:noFill/>
          </a:ln>
        </p:spPr>
        <p:txBody>
          <a:bodyPr anchorCtr="0" anchor="t" bIns="45700" lIns="91425" spcFirstLastPara="1" rIns="91425" wrap="square" tIns="45700">
            <a:noAutofit/>
          </a:bodyPr>
          <a:lstStyle/>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Voice cloning and fake media used in scams.</a:t>
            </a:r>
            <a:endParaRPr sz="1100">
              <a:solidFill>
                <a:srgbClr val="2C3E50"/>
              </a:solidFill>
              <a:latin typeface="Calibri"/>
              <a:ea typeface="Calibri"/>
              <a:cs typeface="Calibri"/>
              <a:sym typeface="Calibri"/>
            </a:endParaRPr>
          </a:p>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Can trick people into transferring money.</a:t>
            </a:r>
            <a:endParaRPr sz="1100">
              <a:solidFill>
                <a:srgbClr val="2C3E50"/>
              </a:solidFill>
              <a:latin typeface="Calibri"/>
              <a:ea typeface="Calibri"/>
              <a:cs typeface="Calibri"/>
              <a:sym typeface="Calibri"/>
            </a:endParaRPr>
          </a:p>
        </p:txBody>
      </p:sp>
      <p:sp>
        <p:nvSpPr>
          <p:cNvPr id="77" name="Google Shape;77;p3"/>
          <p:cNvSpPr/>
          <p:nvPr/>
        </p:nvSpPr>
        <p:spPr>
          <a:xfrm>
            <a:off x="3246100" y="2834650"/>
            <a:ext cx="2788800" cy="20769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3246120" y="3044952"/>
            <a:ext cx="2788920" cy="347472"/>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3355848" y="30815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Legal &amp; Forensic Impact</a:t>
            </a:r>
            <a:endParaRPr b="0" i="0" sz="1200" u="none" cap="none" strike="noStrike">
              <a:solidFill>
                <a:schemeClr val="dk1"/>
              </a:solidFill>
              <a:latin typeface="Calibri"/>
              <a:ea typeface="Calibri"/>
              <a:cs typeface="Calibri"/>
              <a:sym typeface="Calibri"/>
            </a:endParaRPr>
          </a:p>
        </p:txBody>
      </p:sp>
      <p:sp>
        <p:nvSpPr>
          <p:cNvPr id="80" name="Google Shape;80;p3"/>
          <p:cNvSpPr/>
          <p:nvPr/>
        </p:nvSpPr>
        <p:spPr>
          <a:xfrm>
            <a:off x="3355850" y="3465575"/>
            <a:ext cx="2606100" cy="1110600"/>
          </a:xfrm>
          <a:prstGeom prst="rect">
            <a:avLst/>
          </a:prstGeom>
          <a:noFill/>
          <a:ln>
            <a:noFill/>
          </a:ln>
        </p:spPr>
        <p:txBody>
          <a:bodyPr anchorCtr="0" anchor="t" bIns="45700" lIns="91425" spcFirstLastPara="1" rIns="91425" wrap="square" tIns="45700">
            <a:noAutofit/>
          </a:bodyPr>
          <a:lstStyle/>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Difficult to verify if digital evidence is real.</a:t>
            </a:r>
            <a:endParaRPr sz="1100">
              <a:solidFill>
                <a:srgbClr val="2C3E50"/>
              </a:solidFill>
              <a:latin typeface="Calibri"/>
              <a:ea typeface="Calibri"/>
              <a:cs typeface="Calibri"/>
              <a:sym typeface="Calibri"/>
            </a:endParaRPr>
          </a:p>
          <a:p>
            <a:pPr indent="-349250" lvl="0" marL="3429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Affects legal investigations.</a:t>
            </a:r>
            <a:endParaRPr sz="1100">
              <a:solidFill>
                <a:srgbClr val="2C3E50"/>
              </a:solidFill>
              <a:latin typeface="Calibri"/>
              <a:ea typeface="Calibri"/>
              <a:cs typeface="Calibri"/>
              <a:sym typeface="Calibri"/>
            </a:endParaRPr>
          </a:p>
        </p:txBody>
      </p:sp>
      <p:sp>
        <p:nvSpPr>
          <p:cNvPr id="81" name="Google Shape;81;p3"/>
          <p:cNvSpPr/>
          <p:nvPr/>
        </p:nvSpPr>
        <p:spPr>
          <a:xfrm>
            <a:off x="6172200" y="3044950"/>
            <a:ext cx="2788800" cy="18036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6172200" y="3044952"/>
            <a:ext cx="2788920" cy="347472"/>
          </a:xfrm>
          <a:prstGeom prst="rect">
            <a:avLst/>
          </a:prstGeom>
          <a:solidFill>
            <a:srgbClr val="A0350A"/>
          </a:solidFill>
          <a:ln cap="flat" cmpd="sng" w="12700">
            <a:solidFill>
              <a:srgbClr val="A035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6281928" y="30815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Scale of the Problem</a:t>
            </a:r>
            <a:endParaRPr b="0" i="0" sz="1200" u="none" cap="none" strike="noStrike">
              <a:solidFill>
                <a:schemeClr val="dk1"/>
              </a:solidFill>
              <a:latin typeface="Calibri"/>
              <a:ea typeface="Calibri"/>
              <a:cs typeface="Calibri"/>
              <a:sym typeface="Calibri"/>
            </a:endParaRPr>
          </a:p>
        </p:txBody>
      </p:sp>
      <p:sp>
        <p:nvSpPr>
          <p:cNvPr id="84" name="Google Shape;84;p3"/>
          <p:cNvSpPr/>
          <p:nvPr/>
        </p:nvSpPr>
        <p:spPr>
          <a:xfrm>
            <a:off x="6245375" y="3484925"/>
            <a:ext cx="2606100" cy="142650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Fake content is increasingly rapidly online.</a:t>
            </a:r>
            <a:endParaRPr sz="1100">
              <a:solidFill>
                <a:srgbClr val="2C3E50"/>
              </a:solidFill>
              <a:latin typeface="Calibri"/>
              <a:ea typeface="Calibri"/>
              <a:cs typeface="Calibri"/>
              <a:sym typeface="Calibri"/>
            </a:endParaRPr>
          </a:p>
          <a:p>
            <a:pPr indent="-298450" lvl="0" marL="4572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Need for better deep fake detection systems.</a:t>
            </a:r>
            <a:endParaRPr sz="1100">
              <a:solidFill>
                <a:srgbClr val="2C3E5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89" name="Shape 89"/>
        <p:cNvGrpSpPr/>
        <p:nvPr/>
      </p:nvGrpSpPr>
      <p:grpSpPr>
        <a:xfrm>
          <a:off x="0" y="0"/>
          <a:ext cx="0" cy="0"/>
          <a:chOff x="0" y="0"/>
          <a:chExt cx="0" cy="0"/>
        </a:xfrm>
      </p:grpSpPr>
      <p:sp>
        <p:nvSpPr>
          <p:cNvPr id="90" name="Google Shape;90;p4"/>
          <p:cNvSpPr/>
          <p:nvPr/>
        </p:nvSpPr>
        <p:spPr>
          <a:xfrm>
            <a:off x="0" y="0"/>
            <a:ext cx="164700"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320040" y="182880"/>
            <a:ext cx="8503800" cy="658500"/>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457200" y="210312"/>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Research Gaps</a:t>
            </a:r>
            <a:endParaRPr b="0" i="0" sz="2200" u="none" cap="none" strike="noStrike">
              <a:solidFill>
                <a:schemeClr val="dk1"/>
              </a:solidFill>
              <a:latin typeface="Calibri"/>
              <a:ea typeface="Calibri"/>
              <a:cs typeface="Calibri"/>
              <a:sym typeface="Calibri"/>
            </a:endParaRPr>
          </a:p>
        </p:txBody>
      </p:sp>
      <p:sp>
        <p:nvSpPr>
          <p:cNvPr id="93" name="Google Shape;93;p4"/>
          <p:cNvSpPr/>
          <p:nvPr/>
        </p:nvSpPr>
        <p:spPr>
          <a:xfrm>
            <a:off x="320040" y="987552"/>
            <a:ext cx="4206300" cy="12618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320040" y="987552"/>
            <a:ext cx="457200" cy="126180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320040" y="13898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96" name="Google Shape;96;p4"/>
          <p:cNvSpPr/>
          <p:nvPr/>
        </p:nvSpPr>
        <p:spPr>
          <a:xfrm>
            <a:off x="912642" y="1060704"/>
            <a:ext cx="356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6A0"/>
              </a:buClr>
              <a:buSzPts val="1100"/>
              <a:buFont typeface="Calibri"/>
              <a:buNone/>
            </a:pPr>
            <a:r>
              <a:rPr b="1" i="0" lang="en-US" sz="1100" u="none" cap="none" strike="noStrike">
                <a:solidFill>
                  <a:srgbClr val="1A56A0"/>
                </a:solidFill>
                <a:latin typeface="Calibri"/>
                <a:ea typeface="Calibri"/>
                <a:cs typeface="Calibri"/>
                <a:sym typeface="Calibri"/>
              </a:rPr>
              <a:t>Generalisation Gap (All Modalities)[1][3][5]</a:t>
            </a:r>
            <a:endParaRPr b="0" i="0" sz="1100" u="none" cap="none" strike="noStrike">
              <a:solidFill>
                <a:schemeClr val="dk1"/>
              </a:solidFill>
              <a:latin typeface="Calibri"/>
              <a:ea typeface="Calibri"/>
              <a:cs typeface="Calibri"/>
              <a:sym typeface="Calibri"/>
            </a:endParaRPr>
          </a:p>
        </p:txBody>
      </p:sp>
      <p:sp>
        <p:nvSpPr>
          <p:cNvPr id="97" name="Google Shape;97;p4"/>
          <p:cNvSpPr/>
          <p:nvPr/>
        </p:nvSpPr>
        <p:spPr>
          <a:xfrm>
            <a:off x="868680" y="1353312"/>
            <a:ext cx="3566100" cy="80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Models often work well on specific datasets.</a:t>
            </a:r>
            <a:endParaRPr sz="1200">
              <a:solidFill>
                <a:srgbClr val="607080"/>
              </a:solidFill>
              <a:latin typeface="Calibri"/>
              <a:ea typeface="Calibri"/>
              <a:cs typeface="Calibri"/>
              <a:sym typeface="Calibri"/>
            </a:endParaRPr>
          </a:p>
          <a:p>
            <a:pPr indent="0" lvl="0" marL="0" marR="0" rtl="0" algn="l">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Performance may drop on unseen or different data.</a:t>
            </a:r>
            <a:endParaRPr sz="1200">
              <a:solidFill>
                <a:srgbClr val="607080"/>
              </a:solidFill>
              <a:latin typeface="Calibri"/>
              <a:ea typeface="Calibri"/>
              <a:cs typeface="Calibri"/>
              <a:sym typeface="Calibri"/>
            </a:endParaRPr>
          </a:p>
        </p:txBody>
      </p:sp>
      <p:sp>
        <p:nvSpPr>
          <p:cNvPr id="98" name="Google Shape;98;p4"/>
          <p:cNvSpPr/>
          <p:nvPr/>
        </p:nvSpPr>
        <p:spPr>
          <a:xfrm>
            <a:off x="4709160" y="987552"/>
            <a:ext cx="4206300" cy="12618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4709160" y="987552"/>
            <a:ext cx="457200" cy="1261800"/>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4709160" y="13898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101" name="Google Shape;101;p4"/>
          <p:cNvSpPr/>
          <p:nvPr/>
        </p:nvSpPr>
        <p:spPr>
          <a:xfrm>
            <a:off x="5257800" y="1060704"/>
            <a:ext cx="356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E3A"/>
              </a:buClr>
              <a:buSzPts val="1100"/>
              <a:buFont typeface="Calibri"/>
              <a:buNone/>
            </a:pPr>
            <a:r>
              <a:rPr b="1" lang="en-US" sz="1100">
                <a:solidFill>
                  <a:srgbClr val="1A6E3A"/>
                </a:solidFill>
                <a:latin typeface="Calibri"/>
                <a:ea typeface="Calibri"/>
                <a:cs typeface="Calibri"/>
                <a:sym typeface="Calibri"/>
              </a:rPr>
              <a:t>New Generation Methods[6][1]</a:t>
            </a:r>
            <a:endParaRPr b="0" i="0" sz="1100" u="none" cap="none" strike="noStrike">
              <a:solidFill>
                <a:schemeClr val="dk1"/>
              </a:solidFill>
              <a:latin typeface="Calibri"/>
              <a:ea typeface="Calibri"/>
              <a:cs typeface="Calibri"/>
              <a:sym typeface="Calibri"/>
            </a:endParaRPr>
          </a:p>
        </p:txBody>
      </p:sp>
      <p:sp>
        <p:nvSpPr>
          <p:cNvPr id="102" name="Google Shape;102;p4"/>
          <p:cNvSpPr/>
          <p:nvPr/>
        </p:nvSpPr>
        <p:spPr>
          <a:xfrm>
            <a:off x="5257800" y="1353312"/>
            <a:ext cx="3566100" cy="8046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New models produce different types of fake images.</a:t>
            </a:r>
            <a:endParaRPr sz="1200">
              <a:solidFill>
                <a:srgbClr val="607080"/>
              </a:solidFill>
              <a:latin typeface="Calibri"/>
              <a:ea typeface="Calibri"/>
              <a:cs typeface="Calibri"/>
              <a:sym typeface="Calibri"/>
            </a:endParaRPr>
          </a:p>
          <a:p>
            <a:pPr indent="0" lvl="0" marL="0" marR="0" rtl="0" algn="just">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Some existing methods struggle to detect these.</a:t>
            </a:r>
            <a:endParaRPr sz="1200">
              <a:solidFill>
                <a:srgbClr val="607080"/>
              </a:solidFill>
              <a:latin typeface="Calibri"/>
              <a:ea typeface="Calibri"/>
              <a:cs typeface="Calibri"/>
              <a:sym typeface="Calibri"/>
            </a:endParaRPr>
          </a:p>
        </p:txBody>
      </p:sp>
      <p:sp>
        <p:nvSpPr>
          <p:cNvPr id="103" name="Google Shape;103;p4"/>
          <p:cNvSpPr/>
          <p:nvPr/>
        </p:nvSpPr>
        <p:spPr>
          <a:xfrm>
            <a:off x="320040" y="2359152"/>
            <a:ext cx="4206300" cy="12618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320040" y="2359152"/>
            <a:ext cx="457200" cy="1261800"/>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320040" y="27614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106" name="Google Shape;106;p4"/>
          <p:cNvSpPr/>
          <p:nvPr/>
        </p:nvSpPr>
        <p:spPr>
          <a:xfrm>
            <a:off x="868680" y="2432304"/>
            <a:ext cx="356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3A9A"/>
              </a:buClr>
              <a:buSzPts val="1100"/>
              <a:buFont typeface="Calibri"/>
              <a:buNone/>
            </a:pPr>
            <a:r>
              <a:rPr b="1" i="0" lang="en-US" sz="1100" u="none" cap="none" strike="noStrike">
                <a:solidFill>
                  <a:srgbClr val="5E3A9A"/>
                </a:solidFill>
                <a:latin typeface="Calibri"/>
                <a:ea typeface="Calibri"/>
                <a:cs typeface="Calibri"/>
                <a:sym typeface="Calibri"/>
              </a:rPr>
              <a:t>Audio </a:t>
            </a:r>
            <a:r>
              <a:rPr b="1" lang="en-US" sz="1100">
                <a:solidFill>
                  <a:srgbClr val="5E3A9A"/>
                </a:solidFill>
                <a:latin typeface="Calibri"/>
                <a:ea typeface="Calibri"/>
                <a:cs typeface="Calibri"/>
                <a:sym typeface="Calibri"/>
              </a:rPr>
              <a:t>Detection [7]</a:t>
            </a:r>
            <a:endParaRPr b="0" i="0" sz="1100" u="none" cap="none" strike="noStrike">
              <a:solidFill>
                <a:schemeClr val="dk1"/>
              </a:solidFill>
              <a:latin typeface="Calibri"/>
              <a:ea typeface="Calibri"/>
              <a:cs typeface="Calibri"/>
              <a:sym typeface="Calibri"/>
            </a:endParaRPr>
          </a:p>
        </p:txBody>
      </p:sp>
      <p:sp>
        <p:nvSpPr>
          <p:cNvPr id="107" name="Google Shape;107;p4"/>
          <p:cNvSpPr/>
          <p:nvPr/>
        </p:nvSpPr>
        <p:spPr>
          <a:xfrm>
            <a:off x="868680" y="2724912"/>
            <a:ext cx="3566100" cy="80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Audio deepfakes detection is less explored compared to images.Limited datasets for training and evaluation.</a:t>
            </a:r>
            <a:endParaRPr sz="1200">
              <a:solidFill>
                <a:srgbClr val="607080"/>
              </a:solidFill>
              <a:latin typeface="Calibri"/>
              <a:ea typeface="Calibri"/>
              <a:cs typeface="Calibri"/>
              <a:sym typeface="Calibri"/>
            </a:endParaRPr>
          </a:p>
          <a:p>
            <a:pPr indent="0" lvl="0" marL="0" marR="0" rtl="0" algn="l">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Mismatch</a:t>
            </a:r>
            <a:r>
              <a:rPr lang="en-US" sz="1200">
                <a:solidFill>
                  <a:srgbClr val="607080"/>
                </a:solidFill>
                <a:latin typeface="Calibri"/>
                <a:ea typeface="Calibri"/>
                <a:cs typeface="Calibri"/>
                <a:sym typeface="Calibri"/>
              </a:rPr>
              <a:t> between style and content.</a:t>
            </a:r>
            <a:endParaRPr b="0" i="0" sz="1200" u="none" cap="none" strike="noStrike">
              <a:solidFill>
                <a:schemeClr val="dk1"/>
              </a:solidFill>
              <a:latin typeface="Calibri"/>
              <a:ea typeface="Calibri"/>
              <a:cs typeface="Calibri"/>
              <a:sym typeface="Calibri"/>
            </a:endParaRPr>
          </a:p>
        </p:txBody>
      </p:sp>
      <p:sp>
        <p:nvSpPr>
          <p:cNvPr id="108" name="Google Shape;108;p4"/>
          <p:cNvSpPr/>
          <p:nvPr/>
        </p:nvSpPr>
        <p:spPr>
          <a:xfrm>
            <a:off x="4709160" y="2359152"/>
            <a:ext cx="4206300" cy="12618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4709160" y="2359152"/>
            <a:ext cx="457200" cy="1261800"/>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4709160" y="27614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04</a:t>
            </a:r>
            <a:endParaRPr b="0" i="0" sz="1300" u="none" cap="none" strike="noStrike">
              <a:solidFill>
                <a:schemeClr val="dk1"/>
              </a:solidFill>
              <a:latin typeface="Calibri"/>
              <a:ea typeface="Calibri"/>
              <a:cs typeface="Calibri"/>
              <a:sym typeface="Calibri"/>
            </a:endParaRPr>
          </a:p>
        </p:txBody>
      </p:sp>
      <p:sp>
        <p:nvSpPr>
          <p:cNvPr id="111" name="Google Shape;111;p4"/>
          <p:cNvSpPr/>
          <p:nvPr/>
        </p:nvSpPr>
        <p:spPr>
          <a:xfrm>
            <a:off x="5257800" y="2432304"/>
            <a:ext cx="356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7B2A"/>
              </a:buClr>
              <a:buSzPts val="1100"/>
              <a:buFont typeface="Calibri"/>
              <a:buNone/>
            </a:pPr>
            <a:r>
              <a:rPr b="1" i="0" lang="en-US" sz="1100" u="none" cap="none" strike="noStrike">
                <a:solidFill>
                  <a:srgbClr val="E07B2A"/>
                </a:solidFill>
                <a:latin typeface="Calibri"/>
                <a:ea typeface="Calibri"/>
                <a:cs typeface="Calibri"/>
                <a:sym typeface="Calibri"/>
              </a:rPr>
              <a:t>Multimodal (Audio-Visual) Detection [6]</a:t>
            </a:r>
            <a:endParaRPr b="0" i="0" sz="1100" u="none" cap="none" strike="noStrike">
              <a:solidFill>
                <a:schemeClr val="dk1"/>
              </a:solidFill>
              <a:latin typeface="Calibri"/>
              <a:ea typeface="Calibri"/>
              <a:cs typeface="Calibri"/>
              <a:sym typeface="Calibri"/>
            </a:endParaRPr>
          </a:p>
        </p:txBody>
      </p:sp>
      <p:sp>
        <p:nvSpPr>
          <p:cNvPr id="112" name="Google Shape;112;p4"/>
          <p:cNvSpPr/>
          <p:nvPr/>
        </p:nvSpPr>
        <p:spPr>
          <a:xfrm>
            <a:off x="5257800" y="2724912"/>
            <a:ext cx="3566100" cy="8046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Many studies focus on a single modality.</a:t>
            </a:r>
            <a:endParaRPr sz="1200">
              <a:solidFill>
                <a:srgbClr val="607080"/>
              </a:solidFill>
              <a:latin typeface="Calibri"/>
              <a:ea typeface="Calibri"/>
              <a:cs typeface="Calibri"/>
              <a:sym typeface="Calibri"/>
            </a:endParaRPr>
          </a:p>
          <a:p>
            <a:pPr indent="0" lvl="0" marL="0" marR="0" rtl="0" algn="just">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Combining audio and visual information is still developing.</a:t>
            </a:r>
            <a:endParaRPr sz="1200">
              <a:solidFill>
                <a:srgbClr val="607080"/>
              </a:solidFill>
              <a:latin typeface="Calibri"/>
              <a:ea typeface="Calibri"/>
              <a:cs typeface="Calibri"/>
              <a:sym typeface="Calibri"/>
            </a:endParaRPr>
          </a:p>
        </p:txBody>
      </p:sp>
      <p:sp>
        <p:nvSpPr>
          <p:cNvPr id="113" name="Google Shape;113;p4"/>
          <p:cNvSpPr/>
          <p:nvPr/>
        </p:nvSpPr>
        <p:spPr>
          <a:xfrm>
            <a:off x="320040" y="3730752"/>
            <a:ext cx="4206300" cy="12618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320040" y="3730752"/>
            <a:ext cx="457200" cy="1261800"/>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320040" y="41330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05</a:t>
            </a:r>
            <a:endParaRPr b="0" i="0" sz="1300" u="none" cap="none" strike="noStrike">
              <a:solidFill>
                <a:schemeClr val="dk1"/>
              </a:solidFill>
              <a:latin typeface="Calibri"/>
              <a:ea typeface="Calibri"/>
              <a:cs typeface="Calibri"/>
              <a:sym typeface="Calibri"/>
            </a:endParaRPr>
          </a:p>
        </p:txBody>
      </p:sp>
      <p:sp>
        <p:nvSpPr>
          <p:cNvPr id="116" name="Google Shape;116;p4"/>
          <p:cNvSpPr/>
          <p:nvPr/>
        </p:nvSpPr>
        <p:spPr>
          <a:xfrm>
            <a:off x="868680" y="3803904"/>
            <a:ext cx="356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E5A"/>
              </a:buClr>
              <a:buSzPts val="1100"/>
              <a:buFont typeface="Calibri"/>
              <a:buNone/>
            </a:pPr>
            <a:r>
              <a:rPr b="1" i="0" lang="en-US" sz="1100" u="none" cap="none" strike="noStrike">
                <a:solidFill>
                  <a:srgbClr val="0E6E5A"/>
                </a:solidFill>
                <a:latin typeface="Calibri"/>
                <a:ea typeface="Calibri"/>
                <a:cs typeface="Calibri"/>
                <a:sym typeface="Calibri"/>
              </a:rPr>
              <a:t>Explainability[7] </a:t>
            </a:r>
            <a:endParaRPr b="0" i="0" sz="1100" u="none" cap="none" strike="noStrike">
              <a:solidFill>
                <a:schemeClr val="dk1"/>
              </a:solidFill>
              <a:latin typeface="Calibri"/>
              <a:ea typeface="Calibri"/>
              <a:cs typeface="Calibri"/>
              <a:sym typeface="Calibri"/>
            </a:endParaRPr>
          </a:p>
        </p:txBody>
      </p:sp>
      <p:sp>
        <p:nvSpPr>
          <p:cNvPr id="117" name="Google Shape;117;p4"/>
          <p:cNvSpPr/>
          <p:nvPr/>
        </p:nvSpPr>
        <p:spPr>
          <a:xfrm>
            <a:off x="868680" y="4096512"/>
            <a:ext cx="3566100" cy="80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Many models do not clearly explain their </a:t>
            </a:r>
            <a:r>
              <a:rPr lang="en-US" sz="1200">
                <a:solidFill>
                  <a:srgbClr val="607080"/>
                </a:solidFill>
                <a:latin typeface="Calibri"/>
                <a:ea typeface="Calibri"/>
                <a:cs typeface="Calibri"/>
                <a:sym typeface="Calibri"/>
              </a:rPr>
              <a:t>predictions</a:t>
            </a:r>
            <a:r>
              <a:rPr lang="en-US" sz="1200">
                <a:solidFill>
                  <a:srgbClr val="607080"/>
                </a:solidFill>
                <a:latin typeface="Calibri"/>
                <a:ea typeface="Calibri"/>
                <a:cs typeface="Calibri"/>
                <a:sym typeface="Calibri"/>
              </a:rPr>
              <a:t>.</a:t>
            </a:r>
            <a:endParaRPr sz="1200">
              <a:solidFill>
                <a:srgbClr val="607080"/>
              </a:solidFill>
              <a:latin typeface="Calibri"/>
              <a:ea typeface="Calibri"/>
              <a:cs typeface="Calibri"/>
              <a:sym typeface="Calibri"/>
            </a:endParaRPr>
          </a:p>
          <a:p>
            <a:pPr indent="0" lvl="0" marL="0" marR="0" rtl="0" algn="l">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This is important for real world applications.</a:t>
            </a:r>
            <a:endParaRPr sz="1200">
              <a:solidFill>
                <a:srgbClr val="607080"/>
              </a:solidFill>
              <a:latin typeface="Calibri"/>
              <a:ea typeface="Calibri"/>
              <a:cs typeface="Calibri"/>
              <a:sym typeface="Calibri"/>
            </a:endParaRPr>
          </a:p>
        </p:txBody>
      </p:sp>
      <p:sp>
        <p:nvSpPr>
          <p:cNvPr id="118" name="Google Shape;118;p4"/>
          <p:cNvSpPr/>
          <p:nvPr/>
        </p:nvSpPr>
        <p:spPr>
          <a:xfrm>
            <a:off x="4709160" y="3730752"/>
            <a:ext cx="4206300" cy="12618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4709160" y="3730752"/>
            <a:ext cx="457200" cy="1261800"/>
          </a:xfrm>
          <a:prstGeom prst="rect">
            <a:avLst/>
          </a:prstGeom>
          <a:solidFill>
            <a:srgbClr val="A0350A"/>
          </a:solidFill>
          <a:ln cap="flat" cmpd="sng" w="12700">
            <a:solidFill>
              <a:srgbClr val="A035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p:nvPr/>
        </p:nvSpPr>
        <p:spPr>
          <a:xfrm>
            <a:off x="4709160" y="41330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06</a:t>
            </a:r>
            <a:endParaRPr b="0" i="0" sz="1300" u="none" cap="none" strike="noStrike">
              <a:solidFill>
                <a:schemeClr val="dk1"/>
              </a:solidFill>
              <a:latin typeface="Calibri"/>
              <a:ea typeface="Calibri"/>
              <a:cs typeface="Calibri"/>
              <a:sym typeface="Calibri"/>
            </a:endParaRPr>
          </a:p>
        </p:txBody>
      </p:sp>
      <p:sp>
        <p:nvSpPr>
          <p:cNvPr id="121" name="Google Shape;121;p4"/>
          <p:cNvSpPr/>
          <p:nvPr/>
        </p:nvSpPr>
        <p:spPr>
          <a:xfrm>
            <a:off x="5257800" y="3803904"/>
            <a:ext cx="356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350A"/>
              </a:buClr>
              <a:buSzPts val="1100"/>
              <a:buFont typeface="Calibri"/>
              <a:buNone/>
            </a:pPr>
            <a:r>
              <a:rPr b="1" i="0" lang="en-US" sz="1100" u="none" cap="none" strike="noStrike">
                <a:solidFill>
                  <a:srgbClr val="A0350A"/>
                </a:solidFill>
                <a:latin typeface="Calibri"/>
                <a:ea typeface="Calibri"/>
                <a:cs typeface="Calibri"/>
                <a:sym typeface="Calibri"/>
              </a:rPr>
              <a:t>Real-World Conditions</a:t>
            </a:r>
            <a:endParaRPr b="0" i="0" sz="1100" u="none" cap="none" strike="noStrike">
              <a:solidFill>
                <a:schemeClr val="dk1"/>
              </a:solidFill>
              <a:latin typeface="Calibri"/>
              <a:ea typeface="Calibri"/>
              <a:cs typeface="Calibri"/>
              <a:sym typeface="Calibri"/>
            </a:endParaRPr>
          </a:p>
        </p:txBody>
      </p:sp>
      <p:sp>
        <p:nvSpPr>
          <p:cNvPr id="122" name="Google Shape;122;p4"/>
          <p:cNvSpPr/>
          <p:nvPr/>
        </p:nvSpPr>
        <p:spPr>
          <a:xfrm>
            <a:off x="5257800" y="4096512"/>
            <a:ext cx="3566100" cy="8046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Performance can be affected by compression and low quality data.</a:t>
            </a:r>
            <a:endParaRPr sz="1200">
              <a:solidFill>
                <a:srgbClr val="607080"/>
              </a:solidFill>
              <a:latin typeface="Calibri"/>
              <a:ea typeface="Calibri"/>
              <a:cs typeface="Calibri"/>
              <a:sym typeface="Calibri"/>
            </a:endParaRPr>
          </a:p>
          <a:p>
            <a:pPr indent="0" lvl="0" marL="0" marR="0" rtl="0" algn="just">
              <a:spcBef>
                <a:spcPts val="0"/>
              </a:spcBef>
              <a:spcAft>
                <a:spcPts val="0"/>
              </a:spcAft>
              <a:buClr>
                <a:srgbClr val="607080"/>
              </a:buClr>
              <a:buSzPts val="950"/>
              <a:buFont typeface="Calibri"/>
              <a:buNone/>
            </a:pPr>
            <a:r>
              <a:rPr lang="en-US" sz="1200">
                <a:solidFill>
                  <a:srgbClr val="607080"/>
                </a:solidFill>
                <a:latin typeface="Calibri"/>
                <a:ea typeface="Calibri"/>
                <a:cs typeface="Calibri"/>
                <a:sym typeface="Calibri"/>
              </a:rPr>
              <a:t>Real world Scenarios are more challenging than controlled datasets.</a:t>
            </a:r>
            <a:endParaRPr sz="1200">
              <a:solidFill>
                <a:srgbClr val="60708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127" name="Shape 127"/>
        <p:cNvGrpSpPr/>
        <p:nvPr/>
      </p:nvGrpSpPr>
      <p:grpSpPr>
        <a:xfrm>
          <a:off x="0" y="0"/>
          <a:ext cx="0" cy="0"/>
          <a:chOff x="0" y="0"/>
          <a:chExt cx="0" cy="0"/>
        </a:xfrm>
      </p:grpSpPr>
      <p:sp>
        <p:nvSpPr>
          <p:cNvPr id="128" name="Google Shape;128;p5"/>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Challenges</a:t>
            </a:r>
            <a:endParaRPr b="0" i="0" sz="2200" u="none" cap="none" strike="noStrike">
              <a:solidFill>
                <a:schemeClr val="dk1"/>
              </a:solidFill>
              <a:latin typeface="Calibri"/>
              <a:ea typeface="Calibri"/>
              <a:cs typeface="Calibri"/>
              <a:sym typeface="Calibri"/>
            </a:endParaRPr>
          </a:p>
        </p:txBody>
      </p:sp>
      <p:sp>
        <p:nvSpPr>
          <p:cNvPr id="131" name="Google Shape;131;p5"/>
          <p:cNvSpPr/>
          <p:nvPr/>
        </p:nvSpPr>
        <p:spPr>
          <a:xfrm>
            <a:off x="320040" y="987552"/>
            <a:ext cx="2788920" cy="40050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320040" y="987552"/>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429768" y="10241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IMAGE Detection Challenges</a:t>
            </a:r>
            <a:endParaRPr b="0" i="0" sz="1200" u="none" cap="none" strike="noStrike">
              <a:solidFill>
                <a:schemeClr val="dk1"/>
              </a:solidFill>
              <a:latin typeface="Calibri"/>
              <a:ea typeface="Calibri"/>
              <a:cs typeface="Calibri"/>
              <a:sym typeface="Calibri"/>
            </a:endParaRPr>
          </a:p>
        </p:txBody>
      </p:sp>
      <p:sp>
        <p:nvSpPr>
          <p:cNvPr id="134" name="Google Shape;134;p5"/>
          <p:cNvSpPr/>
          <p:nvPr/>
        </p:nvSpPr>
        <p:spPr>
          <a:xfrm>
            <a:off x="429768" y="1408176"/>
            <a:ext cx="2606040" cy="3511296"/>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Different deepfake methods create different types of fake images.</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Models</a:t>
            </a:r>
            <a:r>
              <a:rPr lang="en-US" sz="1200">
                <a:solidFill>
                  <a:srgbClr val="2C3E50"/>
                </a:solidFill>
                <a:latin typeface="Calibri"/>
                <a:ea typeface="Calibri"/>
                <a:cs typeface="Calibri"/>
                <a:sym typeface="Calibri"/>
              </a:rPr>
              <a:t> may not </a:t>
            </a:r>
            <a:r>
              <a:rPr lang="en-US" sz="1200">
                <a:solidFill>
                  <a:srgbClr val="2C3E50"/>
                </a:solidFill>
                <a:latin typeface="Calibri"/>
                <a:ea typeface="Calibri"/>
                <a:cs typeface="Calibri"/>
                <a:sym typeface="Calibri"/>
              </a:rPr>
              <a:t>work</a:t>
            </a:r>
            <a:r>
              <a:rPr lang="en-US" sz="1200">
                <a:solidFill>
                  <a:srgbClr val="2C3E50"/>
                </a:solidFill>
                <a:latin typeface="Calibri"/>
                <a:ea typeface="Calibri"/>
                <a:cs typeface="Calibri"/>
                <a:sym typeface="Calibri"/>
              </a:rPr>
              <a:t> well on unseen data.</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Small changes on noise can affect detection.</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Compression reduces important details.</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Models do not always explain their decision clearly.</a:t>
            </a:r>
            <a:endParaRPr sz="1200">
              <a:solidFill>
                <a:srgbClr val="2C3E50"/>
              </a:solidFill>
              <a:latin typeface="Calibri"/>
              <a:ea typeface="Calibri"/>
              <a:cs typeface="Calibri"/>
              <a:sym typeface="Calibri"/>
            </a:endParaRPr>
          </a:p>
        </p:txBody>
      </p:sp>
      <p:sp>
        <p:nvSpPr>
          <p:cNvPr id="135" name="Google Shape;135;p5"/>
          <p:cNvSpPr/>
          <p:nvPr/>
        </p:nvSpPr>
        <p:spPr>
          <a:xfrm>
            <a:off x="3246120" y="987552"/>
            <a:ext cx="2788920" cy="40050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3246120" y="987552"/>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3355848" y="10241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VIDEO Detection Challenges</a:t>
            </a:r>
            <a:endParaRPr b="0" i="0" sz="1200" u="none" cap="none" strike="noStrike">
              <a:solidFill>
                <a:schemeClr val="dk1"/>
              </a:solidFill>
              <a:latin typeface="Calibri"/>
              <a:ea typeface="Calibri"/>
              <a:cs typeface="Calibri"/>
              <a:sym typeface="Calibri"/>
            </a:endParaRPr>
          </a:p>
        </p:txBody>
      </p:sp>
      <p:sp>
        <p:nvSpPr>
          <p:cNvPr id="138" name="Google Shape;138;p5"/>
          <p:cNvSpPr/>
          <p:nvPr/>
        </p:nvSpPr>
        <p:spPr>
          <a:xfrm>
            <a:off x="3355848" y="1408176"/>
            <a:ext cx="2606040" cy="3511296"/>
          </a:xfrm>
          <a:prstGeom prst="rect">
            <a:avLst/>
          </a:prstGeom>
          <a:noFill/>
          <a:ln>
            <a:noFill/>
          </a:ln>
        </p:spPr>
        <p:txBody>
          <a:bodyPr anchorCtr="0" anchor="t" bIns="45700" lIns="91425" spcFirstLastPara="1" rIns="91425" wrap="square" tIns="45700">
            <a:noAutofit/>
          </a:bodyPr>
          <a:lstStyle/>
          <a:p>
            <a:pPr indent="-355600" lvl="0" marL="342900" marR="0" rtl="0" algn="l">
              <a:lnSpc>
                <a:spcPct val="115000"/>
              </a:lnSpc>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Need to analyze multiple frames.</a:t>
            </a:r>
            <a:endParaRPr sz="1200">
              <a:solidFill>
                <a:srgbClr val="2C3E50"/>
              </a:solidFill>
              <a:latin typeface="Calibri"/>
              <a:ea typeface="Calibri"/>
              <a:cs typeface="Calibri"/>
              <a:sym typeface="Calibri"/>
            </a:endParaRPr>
          </a:p>
          <a:p>
            <a:pPr indent="-355600" lvl="0" marL="342900" marR="0" rtl="0" algn="l">
              <a:lnSpc>
                <a:spcPct val="115000"/>
              </a:lnSpc>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High computational cost.</a:t>
            </a:r>
            <a:endParaRPr sz="1200">
              <a:solidFill>
                <a:srgbClr val="2C3E50"/>
              </a:solidFill>
              <a:latin typeface="Calibri"/>
              <a:ea typeface="Calibri"/>
              <a:cs typeface="Calibri"/>
              <a:sym typeface="Calibri"/>
            </a:endParaRPr>
          </a:p>
          <a:p>
            <a:pPr indent="-355600" lvl="0" marL="342900" marR="0" rtl="0" algn="l">
              <a:lnSpc>
                <a:spcPct val="115000"/>
              </a:lnSpc>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Hard to capture temporal consistency.</a:t>
            </a:r>
            <a:endParaRPr sz="1200">
              <a:solidFill>
                <a:srgbClr val="2C3E50"/>
              </a:solidFill>
              <a:latin typeface="Calibri"/>
              <a:ea typeface="Calibri"/>
              <a:cs typeface="Calibri"/>
              <a:sym typeface="Calibri"/>
            </a:endParaRPr>
          </a:p>
        </p:txBody>
      </p:sp>
      <p:sp>
        <p:nvSpPr>
          <p:cNvPr id="139" name="Google Shape;139;p5"/>
          <p:cNvSpPr/>
          <p:nvPr/>
        </p:nvSpPr>
        <p:spPr>
          <a:xfrm>
            <a:off x="6172200" y="987552"/>
            <a:ext cx="2788920" cy="40050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6172200" y="987552"/>
            <a:ext cx="2788920" cy="3474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6281928" y="1024128"/>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AUDIO Detection Challenges</a:t>
            </a:r>
            <a:endParaRPr b="0" i="0" sz="1200" u="none" cap="none" strike="noStrike">
              <a:solidFill>
                <a:schemeClr val="dk1"/>
              </a:solidFill>
              <a:latin typeface="Calibri"/>
              <a:ea typeface="Calibri"/>
              <a:cs typeface="Calibri"/>
              <a:sym typeface="Calibri"/>
            </a:endParaRPr>
          </a:p>
        </p:txBody>
      </p:sp>
      <p:sp>
        <p:nvSpPr>
          <p:cNvPr id="142" name="Google Shape;142;p5"/>
          <p:cNvSpPr/>
          <p:nvPr/>
        </p:nvSpPr>
        <p:spPr>
          <a:xfrm>
            <a:off x="6281928" y="1408176"/>
            <a:ext cx="2606040" cy="3511296"/>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Voice cloning is becoming very realistic.</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Hard to distinguish real and fake speech.</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Limited datasets for training.</a:t>
            </a:r>
            <a:endParaRPr sz="1200">
              <a:solidFill>
                <a:srgbClr val="2C3E5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147" name="Shape 147"/>
        <p:cNvGrpSpPr/>
        <p:nvPr/>
      </p:nvGrpSpPr>
      <p:grpSpPr>
        <a:xfrm>
          <a:off x="0" y="0"/>
          <a:ext cx="0" cy="0"/>
          <a:chOff x="0" y="0"/>
          <a:chExt cx="0" cy="0"/>
        </a:xfrm>
      </p:grpSpPr>
      <p:sp>
        <p:nvSpPr>
          <p:cNvPr id="148" name="Google Shape;148;p6"/>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Project Objectives</a:t>
            </a:r>
            <a:endParaRPr b="0" i="0" sz="2200" u="none" cap="none" strike="noStrike">
              <a:solidFill>
                <a:schemeClr val="dk1"/>
              </a:solidFill>
              <a:latin typeface="Calibri"/>
              <a:ea typeface="Calibri"/>
              <a:cs typeface="Calibri"/>
              <a:sym typeface="Calibri"/>
            </a:endParaRPr>
          </a:p>
        </p:txBody>
      </p:sp>
      <p:sp>
        <p:nvSpPr>
          <p:cNvPr id="151" name="Google Shape;151;p6"/>
          <p:cNvSpPr/>
          <p:nvPr/>
        </p:nvSpPr>
        <p:spPr>
          <a:xfrm>
            <a:off x="320040" y="987552"/>
            <a:ext cx="420624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320040" y="987552"/>
            <a:ext cx="457200" cy="12618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320040" y="13898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01</a:t>
            </a:r>
            <a:endParaRPr b="0" i="0" sz="1300" u="none" cap="none" strike="noStrike">
              <a:solidFill>
                <a:schemeClr val="dk1"/>
              </a:solidFill>
              <a:latin typeface="Calibri"/>
              <a:ea typeface="Calibri"/>
              <a:cs typeface="Calibri"/>
              <a:sym typeface="Calibri"/>
            </a:endParaRPr>
          </a:p>
        </p:txBody>
      </p:sp>
      <p:sp>
        <p:nvSpPr>
          <p:cNvPr id="154" name="Google Shape;154;p6"/>
          <p:cNvSpPr/>
          <p:nvPr/>
        </p:nvSpPr>
        <p:spPr>
          <a:xfrm>
            <a:off x="868680" y="1060704"/>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6A0"/>
              </a:buClr>
              <a:buSzPts val="1100"/>
              <a:buFont typeface="Calibri"/>
              <a:buNone/>
            </a:pPr>
            <a:r>
              <a:rPr b="1" lang="en-US" sz="1300">
                <a:solidFill>
                  <a:srgbClr val="1A56A0"/>
                </a:solidFill>
                <a:latin typeface="Calibri"/>
                <a:ea typeface="Calibri"/>
                <a:cs typeface="Calibri"/>
                <a:sym typeface="Calibri"/>
              </a:rPr>
              <a:t>Study of Deepfake Detection</a:t>
            </a:r>
            <a:endParaRPr b="0" i="0" sz="1300" u="none" cap="none" strike="noStrike">
              <a:solidFill>
                <a:schemeClr val="dk1"/>
              </a:solidFill>
              <a:latin typeface="Calibri"/>
              <a:ea typeface="Calibri"/>
              <a:cs typeface="Calibri"/>
              <a:sym typeface="Calibri"/>
            </a:endParaRPr>
          </a:p>
        </p:txBody>
      </p:sp>
      <p:sp>
        <p:nvSpPr>
          <p:cNvPr id="155" name="Google Shape;155;p6"/>
          <p:cNvSpPr/>
          <p:nvPr/>
        </p:nvSpPr>
        <p:spPr>
          <a:xfrm>
            <a:off x="868680" y="1353312"/>
            <a:ext cx="356616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300">
                <a:solidFill>
                  <a:srgbClr val="607080"/>
                </a:solidFill>
                <a:latin typeface="Calibri"/>
                <a:ea typeface="Calibri"/>
                <a:cs typeface="Calibri"/>
                <a:sym typeface="Calibri"/>
              </a:rPr>
              <a:t>Study deepfake detection technique across image, video and audio domain.</a:t>
            </a:r>
            <a:endParaRPr b="0" i="0" sz="1300" u="none" cap="none" strike="noStrike">
              <a:solidFill>
                <a:schemeClr val="dk1"/>
              </a:solidFill>
              <a:latin typeface="Calibri"/>
              <a:ea typeface="Calibri"/>
              <a:cs typeface="Calibri"/>
              <a:sym typeface="Calibri"/>
            </a:endParaRPr>
          </a:p>
        </p:txBody>
      </p:sp>
      <p:sp>
        <p:nvSpPr>
          <p:cNvPr id="156" name="Google Shape;156;p6"/>
          <p:cNvSpPr/>
          <p:nvPr/>
        </p:nvSpPr>
        <p:spPr>
          <a:xfrm>
            <a:off x="4709160" y="987552"/>
            <a:ext cx="420624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4709160" y="987552"/>
            <a:ext cx="457200" cy="12618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4709160" y="13898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02</a:t>
            </a:r>
            <a:endParaRPr b="0" i="0" sz="1300" u="none" cap="none" strike="noStrike">
              <a:solidFill>
                <a:schemeClr val="dk1"/>
              </a:solidFill>
              <a:latin typeface="Calibri"/>
              <a:ea typeface="Calibri"/>
              <a:cs typeface="Calibri"/>
              <a:sym typeface="Calibri"/>
            </a:endParaRPr>
          </a:p>
        </p:txBody>
      </p:sp>
      <p:sp>
        <p:nvSpPr>
          <p:cNvPr id="159" name="Google Shape;159;p6"/>
          <p:cNvSpPr/>
          <p:nvPr/>
        </p:nvSpPr>
        <p:spPr>
          <a:xfrm>
            <a:off x="5257800" y="1060704"/>
            <a:ext cx="3566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E3A"/>
              </a:buClr>
              <a:buSzPts val="1100"/>
              <a:buFont typeface="Calibri"/>
              <a:buNone/>
            </a:pPr>
            <a:r>
              <a:rPr b="1" lang="en-US" sz="1300">
                <a:solidFill>
                  <a:srgbClr val="1A6E3A"/>
                </a:solidFill>
                <a:latin typeface="Calibri"/>
                <a:ea typeface="Calibri"/>
                <a:cs typeface="Calibri"/>
                <a:sym typeface="Calibri"/>
              </a:rPr>
              <a:t>Image Based Focus</a:t>
            </a:r>
            <a:endParaRPr b="1" i="0" sz="1300" u="none" cap="none" strike="noStrike">
              <a:solidFill>
                <a:schemeClr val="dk1"/>
              </a:solidFill>
              <a:latin typeface="Calibri"/>
              <a:ea typeface="Calibri"/>
              <a:cs typeface="Calibri"/>
              <a:sym typeface="Calibri"/>
            </a:endParaRPr>
          </a:p>
        </p:txBody>
      </p:sp>
      <p:sp>
        <p:nvSpPr>
          <p:cNvPr id="160" name="Google Shape;160;p6"/>
          <p:cNvSpPr/>
          <p:nvPr/>
        </p:nvSpPr>
        <p:spPr>
          <a:xfrm>
            <a:off x="5257800" y="1353312"/>
            <a:ext cx="356616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300">
                <a:solidFill>
                  <a:srgbClr val="607080"/>
                </a:solidFill>
                <a:latin typeface="Calibri"/>
                <a:ea typeface="Calibri"/>
                <a:cs typeface="Calibri"/>
                <a:sym typeface="Calibri"/>
              </a:rPr>
              <a:t>Focus mainly on image deepfake </a:t>
            </a:r>
            <a:r>
              <a:rPr lang="en-US" sz="1300">
                <a:solidFill>
                  <a:srgbClr val="607080"/>
                </a:solidFill>
                <a:latin typeface="Calibri"/>
                <a:ea typeface="Calibri"/>
                <a:cs typeface="Calibri"/>
                <a:sym typeface="Calibri"/>
              </a:rPr>
              <a:t>detection</a:t>
            </a:r>
            <a:r>
              <a:rPr lang="en-US" sz="1300">
                <a:solidFill>
                  <a:srgbClr val="607080"/>
                </a:solidFill>
                <a:latin typeface="Calibri"/>
                <a:ea typeface="Calibri"/>
                <a:cs typeface="Calibri"/>
                <a:sym typeface="Calibri"/>
              </a:rPr>
              <a:t> and understand how fake images are identified.</a:t>
            </a:r>
            <a:endParaRPr b="0" i="0" sz="1300" u="none" cap="none" strike="noStrike">
              <a:solidFill>
                <a:schemeClr val="dk1"/>
              </a:solidFill>
              <a:latin typeface="Calibri"/>
              <a:ea typeface="Calibri"/>
              <a:cs typeface="Calibri"/>
              <a:sym typeface="Calibri"/>
            </a:endParaRPr>
          </a:p>
        </p:txBody>
      </p:sp>
      <p:sp>
        <p:nvSpPr>
          <p:cNvPr id="161" name="Google Shape;161;p6"/>
          <p:cNvSpPr/>
          <p:nvPr/>
        </p:nvSpPr>
        <p:spPr>
          <a:xfrm>
            <a:off x="320040" y="2359152"/>
            <a:ext cx="420624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320040" y="2359152"/>
            <a:ext cx="457200" cy="12618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320040" y="27614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03</a:t>
            </a:r>
            <a:endParaRPr b="0" i="0" sz="1300" u="none" cap="none" strike="noStrike">
              <a:solidFill>
                <a:schemeClr val="dk1"/>
              </a:solidFill>
              <a:latin typeface="Calibri"/>
              <a:ea typeface="Calibri"/>
              <a:cs typeface="Calibri"/>
              <a:sym typeface="Calibri"/>
            </a:endParaRPr>
          </a:p>
        </p:txBody>
      </p:sp>
      <p:sp>
        <p:nvSpPr>
          <p:cNvPr id="164" name="Google Shape;164;p6"/>
          <p:cNvSpPr/>
          <p:nvPr/>
        </p:nvSpPr>
        <p:spPr>
          <a:xfrm>
            <a:off x="868680" y="2432304"/>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3A9A"/>
              </a:buClr>
              <a:buSzPts val="1100"/>
              <a:buFont typeface="Calibri"/>
              <a:buNone/>
            </a:pPr>
            <a:r>
              <a:rPr b="1" lang="en-US" sz="1300">
                <a:solidFill>
                  <a:srgbClr val="5E3A9A"/>
                </a:solidFill>
                <a:latin typeface="Calibri"/>
                <a:ea typeface="Calibri"/>
                <a:cs typeface="Calibri"/>
                <a:sym typeface="Calibri"/>
              </a:rPr>
              <a:t>Comparison of Methods</a:t>
            </a:r>
            <a:endParaRPr b="0" i="0" sz="1300" u="none" cap="none" strike="noStrike">
              <a:solidFill>
                <a:schemeClr val="dk1"/>
              </a:solidFill>
              <a:latin typeface="Calibri"/>
              <a:ea typeface="Calibri"/>
              <a:cs typeface="Calibri"/>
              <a:sym typeface="Calibri"/>
            </a:endParaRPr>
          </a:p>
        </p:txBody>
      </p:sp>
      <p:sp>
        <p:nvSpPr>
          <p:cNvPr id="165" name="Google Shape;165;p6"/>
          <p:cNvSpPr/>
          <p:nvPr/>
        </p:nvSpPr>
        <p:spPr>
          <a:xfrm>
            <a:off x="868680" y="2724912"/>
            <a:ext cx="356616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300">
                <a:solidFill>
                  <a:srgbClr val="607080"/>
                </a:solidFill>
                <a:latin typeface="Calibri"/>
                <a:ea typeface="Calibri"/>
                <a:cs typeface="Calibri"/>
                <a:sym typeface="Calibri"/>
              </a:rPr>
              <a:t>Compare different approaches used in literature and analyze their strengths and limitations.</a:t>
            </a:r>
            <a:endParaRPr b="0" i="0" sz="1300" u="none" cap="none" strike="noStrike">
              <a:solidFill>
                <a:schemeClr val="dk1"/>
              </a:solidFill>
              <a:latin typeface="Calibri"/>
              <a:ea typeface="Calibri"/>
              <a:cs typeface="Calibri"/>
              <a:sym typeface="Calibri"/>
            </a:endParaRPr>
          </a:p>
        </p:txBody>
      </p:sp>
      <p:sp>
        <p:nvSpPr>
          <p:cNvPr id="166" name="Google Shape;166;p6"/>
          <p:cNvSpPr/>
          <p:nvPr/>
        </p:nvSpPr>
        <p:spPr>
          <a:xfrm>
            <a:off x="4709160" y="2359152"/>
            <a:ext cx="420624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4709160" y="2359152"/>
            <a:ext cx="457200" cy="1261872"/>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4709160" y="27614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04</a:t>
            </a:r>
            <a:endParaRPr b="0" i="0" sz="1300" u="none" cap="none" strike="noStrike">
              <a:solidFill>
                <a:schemeClr val="dk1"/>
              </a:solidFill>
              <a:latin typeface="Calibri"/>
              <a:ea typeface="Calibri"/>
              <a:cs typeface="Calibri"/>
              <a:sym typeface="Calibri"/>
            </a:endParaRPr>
          </a:p>
        </p:txBody>
      </p:sp>
      <p:sp>
        <p:nvSpPr>
          <p:cNvPr id="169" name="Google Shape;169;p6"/>
          <p:cNvSpPr/>
          <p:nvPr/>
        </p:nvSpPr>
        <p:spPr>
          <a:xfrm>
            <a:off x="5257800" y="2432304"/>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7B2A"/>
              </a:buClr>
              <a:buSzPts val="1100"/>
              <a:buFont typeface="Calibri"/>
              <a:buNone/>
            </a:pPr>
            <a:r>
              <a:rPr b="1" lang="en-US" sz="1300">
                <a:solidFill>
                  <a:srgbClr val="E07B2A"/>
                </a:solidFill>
                <a:latin typeface="Calibri"/>
                <a:ea typeface="Calibri"/>
                <a:cs typeface="Calibri"/>
                <a:sym typeface="Calibri"/>
              </a:rPr>
              <a:t>Understanding</a:t>
            </a:r>
            <a:r>
              <a:rPr b="1" lang="en-US" sz="1300">
                <a:solidFill>
                  <a:srgbClr val="E07B2A"/>
                </a:solidFill>
                <a:latin typeface="Calibri"/>
                <a:ea typeface="Calibri"/>
                <a:cs typeface="Calibri"/>
                <a:sym typeface="Calibri"/>
              </a:rPr>
              <a:t> Challenges</a:t>
            </a:r>
            <a:endParaRPr b="0" i="0" sz="1300" u="none" cap="none" strike="noStrike">
              <a:solidFill>
                <a:schemeClr val="dk1"/>
              </a:solidFill>
              <a:latin typeface="Calibri"/>
              <a:ea typeface="Calibri"/>
              <a:cs typeface="Calibri"/>
              <a:sym typeface="Calibri"/>
            </a:endParaRPr>
          </a:p>
        </p:txBody>
      </p:sp>
      <p:sp>
        <p:nvSpPr>
          <p:cNvPr id="170" name="Google Shape;170;p6"/>
          <p:cNvSpPr/>
          <p:nvPr/>
        </p:nvSpPr>
        <p:spPr>
          <a:xfrm>
            <a:off x="5257800" y="2724912"/>
            <a:ext cx="356616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300">
                <a:solidFill>
                  <a:srgbClr val="607080"/>
                </a:solidFill>
                <a:latin typeface="Calibri"/>
                <a:ea typeface="Calibri"/>
                <a:cs typeface="Calibri"/>
                <a:sym typeface="Calibri"/>
              </a:rPr>
              <a:t>Study key </a:t>
            </a:r>
            <a:r>
              <a:rPr lang="en-US" sz="1300">
                <a:solidFill>
                  <a:srgbClr val="607080"/>
                </a:solidFill>
                <a:latin typeface="Calibri"/>
                <a:ea typeface="Calibri"/>
                <a:cs typeface="Calibri"/>
                <a:sym typeface="Calibri"/>
              </a:rPr>
              <a:t>challenges</a:t>
            </a:r>
            <a:r>
              <a:rPr lang="en-US" sz="1300">
                <a:solidFill>
                  <a:srgbClr val="607080"/>
                </a:solidFill>
                <a:latin typeface="Calibri"/>
                <a:ea typeface="Calibri"/>
                <a:cs typeface="Calibri"/>
                <a:sym typeface="Calibri"/>
              </a:rPr>
              <a:t> such as generalization, noise and real world conditions.</a:t>
            </a:r>
            <a:endParaRPr b="0" i="0" sz="1300" u="none" cap="none" strike="noStrike">
              <a:solidFill>
                <a:schemeClr val="dk1"/>
              </a:solidFill>
              <a:latin typeface="Calibri"/>
              <a:ea typeface="Calibri"/>
              <a:cs typeface="Calibri"/>
              <a:sym typeface="Calibri"/>
            </a:endParaRPr>
          </a:p>
        </p:txBody>
      </p:sp>
      <p:sp>
        <p:nvSpPr>
          <p:cNvPr id="171" name="Google Shape;171;p6"/>
          <p:cNvSpPr/>
          <p:nvPr/>
        </p:nvSpPr>
        <p:spPr>
          <a:xfrm>
            <a:off x="320040" y="3730752"/>
            <a:ext cx="420624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320040" y="3730752"/>
            <a:ext cx="457200" cy="1261872"/>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320040" y="41330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05</a:t>
            </a:r>
            <a:endParaRPr b="0" i="0" sz="1300" u="none" cap="none" strike="noStrike">
              <a:solidFill>
                <a:schemeClr val="dk1"/>
              </a:solidFill>
              <a:latin typeface="Calibri"/>
              <a:ea typeface="Calibri"/>
              <a:cs typeface="Calibri"/>
              <a:sym typeface="Calibri"/>
            </a:endParaRPr>
          </a:p>
        </p:txBody>
      </p:sp>
      <p:sp>
        <p:nvSpPr>
          <p:cNvPr id="174" name="Google Shape;174;p6"/>
          <p:cNvSpPr/>
          <p:nvPr/>
        </p:nvSpPr>
        <p:spPr>
          <a:xfrm>
            <a:off x="868680" y="3803904"/>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6E5A"/>
              </a:buClr>
              <a:buSzPts val="1100"/>
              <a:buFont typeface="Calibri"/>
              <a:buNone/>
            </a:pPr>
            <a:r>
              <a:rPr b="1" lang="en-US" sz="1300">
                <a:solidFill>
                  <a:srgbClr val="0E6E5A"/>
                </a:solidFill>
                <a:latin typeface="Calibri"/>
                <a:ea typeface="Calibri"/>
                <a:cs typeface="Calibri"/>
                <a:sym typeface="Calibri"/>
              </a:rPr>
              <a:t>Reliability Analysis</a:t>
            </a:r>
            <a:endParaRPr b="0" i="0" sz="1300" u="none" cap="none" strike="noStrike">
              <a:solidFill>
                <a:schemeClr val="dk1"/>
              </a:solidFill>
              <a:latin typeface="Calibri"/>
              <a:ea typeface="Calibri"/>
              <a:cs typeface="Calibri"/>
              <a:sym typeface="Calibri"/>
            </a:endParaRPr>
          </a:p>
        </p:txBody>
      </p:sp>
      <p:sp>
        <p:nvSpPr>
          <p:cNvPr id="175" name="Google Shape;175;p6"/>
          <p:cNvSpPr/>
          <p:nvPr/>
        </p:nvSpPr>
        <p:spPr>
          <a:xfrm>
            <a:off x="868680" y="4096512"/>
            <a:ext cx="356616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300">
                <a:solidFill>
                  <a:srgbClr val="607080"/>
                </a:solidFill>
                <a:latin typeface="Calibri"/>
                <a:ea typeface="Calibri"/>
                <a:cs typeface="Calibri"/>
                <a:sym typeface="Calibri"/>
              </a:rPr>
              <a:t>Analyze how well existing models  perform on different datasets on unseen data.</a:t>
            </a:r>
            <a:endParaRPr b="0" i="0" sz="1300" u="none" cap="none" strike="noStrike">
              <a:solidFill>
                <a:schemeClr val="dk1"/>
              </a:solidFill>
              <a:latin typeface="Calibri"/>
              <a:ea typeface="Calibri"/>
              <a:cs typeface="Calibri"/>
              <a:sym typeface="Calibri"/>
            </a:endParaRPr>
          </a:p>
        </p:txBody>
      </p:sp>
      <p:sp>
        <p:nvSpPr>
          <p:cNvPr id="176" name="Google Shape;176;p6"/>
          <p:cNvSpPr/>
          <p:nvPr/>
        </p:nvSpPr>
        <p:spPr>
          <a:xfrm>
            <a:off x="4709160" y="3730752"/>
            <a:ext cx="420624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4709160" y="3730752"/>
            <a:ext cx="457200" cy="1261872"/>
          </a:xfrm>
          <a:prstGeom prst="rect">
            <a:avLst/>
          </a:prstGeom>
          <a:solidFill>
            <a:srgbClr val="A0350A"/>
          </a:solidFill>
          <a:ln cap="flat" cmpd="sng" w="12700">
            <a:solidFill>
              <a:srgbClr val="A0350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4709160" y="413308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06</a:t>
            </a:r>
            <a:endParaRPr b="0" i="0" sz="1300" u="none" cap="none" strike="noStrike">
              <a:solidFill>
                <a:schemeClr val="dk1"/>
              </a:solidFill>
              <a:latin typeface="Calibri"/>
              <a:ea typeface="Calibri"/>
              <a:cs typeface="Calibri"/>
              <a:sym typeface="Calibri"/>
            </a:endParaRPr>
          </a:p>
        </p:txBody>
      </p:sp>
      <p:sp>
        <p:nvSpPr>
          <p:cNvPr id="179" name="Google Shape;179;p6"/>
          <p:cNvSpPr/>
          <p:nvPr/>
        </p:nvSpPr>
        <p:spPr>
          <a:xfrm>
            <a:off x="5257800" y="3803904"/>
            <a:ext cx="35661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0350A"/>
              </a:buClr>
              <a:buSzPts val="1100"/>
              <a:buFont typeface="Calibri"/>
              <a:buNone/>
            </a:pPr>
            <a:r>
              <a:rPr b="1" lang="en-US" sz="1300">
                <a:solidFill>
                  <a:srgbClr val="A0350A"/>
                </a:solidFill>
                <a:latin typeface="Calibri"/>
                <a:ea typeface="Calibri"/>
                <a:cs typeface="Calibri"/>
                <a:sym typeface="Calibri"/>
              </a:rPr>
              <a:t>Explainability </a:t>
            </a:r>
            <a:endParaRPr b="0" i="0" sz="1300" u="none" cap="none" strike="noStrike">
              <a:solidFill>
                <a:schemeClr val="dk1"/>
              </a:solidFill>
              <a:latin typeface="Calibri"/>
              <a:ea typeface="Calibri"/>
              <a:cs typeface="Calibri"/>
              <a:sym typeface="Calibri"/>
            </a:endParaRPr>
          </a:p>
        </p:txBody>
      </p:sp>
      <p:sp>
        <p:nvSpPr>
          <p:cNvPr id="180" name="Google Shape;180;p6"/>
          <p:cNvSpPr/>
          <p:nvPr/>
        </p:nvSpPr>
        <p:spPr>
          <a:xfrm>
            <a:off x="5257800" y="4096512"/>
            <a:ext cx="3566160" cy="8046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50"/>
              <a:buFont typeface="Calibri"/>
              <a:buNone/>
            </a:pPr>
            <a:r>
              <a:rPr lang="en-US" sz="1300">
                <a:solidFill>
                  <a:srgbClr val="607080"/>
                </a:solidFill>
                <a:latin typeface="Calibri"/>
                <a:ea typeface="Calibri"/>
                <a:cs typeface="Calibri"/>
                <a:sym typeface="Calibri"/>
              </a:rPr>
              <a:t>Understand how models make decisions and identify limitations in interpretability.</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185" name="Shape 185"/>
        <p:cNvGrpSpPr/>
        <p:nvPr/>
      </p:nvGrpSpPr>
      <p:grpSpPr>
        <a:xfrm>
          <a:off x="0" y="0"/>
          <a:ext cx="0" cy="0"/>
          <a:chOff x="0" y="0"/>
          <a:chExt cx="0" cy="0"/>
        </a:xfrm>
      </p:grpSpPr>
      <p:sp>
        <p:nvSpPr>
          <p:cNvPr id="186" name="Google Shape;186;p7"/>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i="0" lang="en-US" sz="2200" u="none" cap="none" strike="noStrike">
                <a:solidFill>
                  <a:srgbClr val="FFFFFF"/>
                </a:solidFill>
                <a:latin typeface="Calibri"/>
                <a:ea typeface="Calibri"/>
                <a:cs typeface="Calibri"/>
                <a:sym typeface="Calibri"/>
              </a:rPr>
              <a:t>Review of Existing Literature </a:t>
            </a:r>
            <a:r>
              <a:rPr lang="en-US" sz="2200">
                <a:solidFill>
                  <a:srgbClr val="FFFFFF"/>
                </a:solidFill>
                <a:latin typeface="Calibri"/>
                <a:ea typeface="Calibri"/>
                <a:cs typeface="Calibri"/>
                <a:sym typeface="Calibri"/>
              </a:rPr>
              <a:t>: </a:t>
            </a:r>
            <a:r>
              <a:rPr i="0" lang="en-US" sz="2200" u="none" cap="none" strike="noStrike">
                <a:solidFill>
                  <a:srgbClr val="FFFFFF"/>
                </a:solidFill>
                <a:latin typeface="Calibri"/>
                <a:ea typeface="Calibri"/>
                <a:cs typeface="Calibri"/>
                <a:sym typeface="Calibri"/>
              </a:rPr>
              <a:t>Field Evolution</a:t>
            </a:r>
            <a:endParaRPr i="0" sz="2200" u="none" cap="none" strike="noStrike">
              <a:solidFill>
                <a:schemeClr val="dk1"/>
              </a:solidFill>
              <a:latin typeface="Calibri"/>
              <a:ea typeface="Calibri"/>
              <a:cs typeface="Calibri"/>
              <a:sym typeface="Calibri"/>
            </a:endParaRPr>
          </a:p>
        </p:txBody>
      </p:sp>
      <p:sp>
        <p:nvSpPr>
          <p:cNvPr id="189" name="Google Shape;189;p7"/>
          <p:cNvSpPr/>
          <p:nvPr/>
        </p:nvSpPr>
        <p:spPr>
          <a:xfrm>
            <a:off x="320040" y="1005840"/>
            <a:ext cx="850392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p:nvPr/>
        </p:nvSpPr>
        <p:spPr>
          <a:xfrm>
            <a:off x="320040" y="1005840"/>
            <a:ext cx="1097280" cy="12618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329184" y="1316736"/>
            <a:ext cx="1060704"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i="0" lang="en-US" sz="900" u="none" cap="none" strike="noStrike">
                <a:solidFill>
                  <a:srgbClr val="FFFFFF"/>
                </a:solidFill>
                <a:latin typeface="Calibri"/>
                <a:ea typeface="Calibri"/>
                <a:cs typeface="Calibri"/>
                <a:sym typeface="Calibri"/>
              </a:rPr>
              <a:t>Phase 1</a:t>
            </a:r>
            <a:endParaRPr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i="0" lang="en-US" sz="900" u="none" cap="none" strike="noStrike">
                <a:solidFill>
                  <a:srgbClr val="FFFFFF"/>
                </a:solidFill>
                <a:latin typeface="Calibri"/>
                <a:ea typeface="Calibri"/>
                <a:cs typeface="Calibri"/>
                <a:sym typeface="Calibri"/>
              </a:rPr>
              <a:t>20</a:t>
            </a:r>
            <a:r>
              <a:rPr lang="en-US" sz="900">
                <a:solidFill>
                  <a:srgbClr val="FFFFFF"/>
                </a:solidFill>
                <a:latin typeface="Calibri"/>
                <a:ea typeface="Calibri"/>
                <a:cs typeface="Calibri"/>
                <a:sym typeface="Calibri"/>
              </a:rPr>
              <a:t>20</a:t>
            </a:r>
            <a:r>
              <a:rPr i="0" lang="en-US" sz="900" u="none" cap="none" strike="noStrike">
                <a:solidFill>
                  <a:srgbClr val="FFFFFF"/>
                </a:solidFill>
                <a:latin typeface="Calibri"/>
                <a:ea typeface="Calibri"/>
                <a:cs typeface="Calibri"/>
                <a:sym typeface="Calibri"/>
              </a:rPr>
              <a:t>–20</a:t>
            </a:r>
            <a:r>
              <a:rPr lang="en-US" sz="900">
                <a:solidFill>
                  <a:srgbClr val="FFFFFF"/>
                </a:solidFill>
                <a:latin typeface="Calibri"/>
                <a:ea typeface="Calibri"/>
                <a:cs typeface="Calibri"/>
                <a:sym typeface="Calibri"/>
              </a:rPr>
              <a:t>22</a:t>
            </a:r>
            <a:endParaRPr i="0" sz="900" u="none" cap="none" strike="noStrike">
              <a:solidFill>
                <a:schemeClr val="dk1"/>
              </a:solidFill>
              <a:latin typeface="Calibri"/>
              <a:ea typeface="Calibri"/>
              <a:cs typeface="Calibri"/>
              <a:sym typeface="Calibri"/>
            </a:endParaRPr>
          </a:p>
        </p:txBody>
      </p:sp>
      <p:sp>
        <p:nvSpPr>
          <p:cNvPr id="192" name="Google Shape;192;p7"/>
          <p:cNvSpPr/>
          <p:nvPr/>
        </p:nvSpPr>
        <p:spPr>
          <a:xfrm>
            <a:off x="1508760" y="1069848"/>
            <a:ext cx="71781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56A0"/>
              </a:buClr>
              <a:buSzPts val="1150"/>
              <a:buFont typeface="Calibri"/>
              <a:buNone/>
            </a:pPr>
            <a:r>
              <a:rPr lang="en-US" sz="1150">
                <a:solidFill>
                  <a:srgbClr val="1A56A0"/>
                </a:solidFill>
                <a:latin typeface="Calibri"/>
                <a:ea typeface="Calibri"/>
                <a:cs typeface="Calibri"/>
                <a:sym typeface="Calibri"/>
              </a:rPr>
              <a:t>CNN Based Image Methods[1]</a:t>
            </a:r>
            <a:endParaRPr i="0" sz="1150" u="none" cap="none" strike="noStrike">
              <a:solidFill>
                <a:schemeClr val="dk1"/>
              </a:solidFill>
              <a:latin typeface="Calibri"/>
              <a:ea typeface="Calibri"/>
              <a:cs typeface="Calibri"/>
              <a:sym typeface="Calibri"/>
            </a:endParaRPr>
          </a:p>
        </p:txBody>
      </p:sp>
      <p:sp>
        <p:nvSpPr>
          <p:cNvPr id="193" name="Google Shape;193;p7"/>
          <p:cNvSpPr/>
          <p:nvPr/>
        </p:nvSpPr>
        <p:spPr>
          <a:xfrm>
            <a:off x="1508760" y="1344168"/>
            <a:ext cx="7178040" cy="841248"/>
          </a:xfrm>
          <a:prstGeom prst="rect">
            <a:avLst/>
          </a:prstGeom>
          <a:noFill/>
          <a:ln>
            <a:noFill/>
          </a:ln>
        </p:spPr>
        <p:txBody>
          <a:bodyPr anchorCtr="0" anchor="t" bIns="45700" lIns="91425" spcFirstLastPara="1" rIns="91425" wrap="square" tIns="45700">
            <a:noAutofit/>
          </a:bodyPr>
          <a:lstStyle/>
          <a:p>
            <a:pPr indent="-304800" lvl="0" marL="457200" rtl="0" algn="l">
              <a:spcBef>
                <a:spcPts val="20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Focus on image based deepfake detection using CNNs</a:t>
            </a:r>
            <a:endParaRPr sz="1200">
              <a:solidFill>
                <a:srgbClr val="333333"/>
              </a:solidFill>
              <a:latin typeface="Calibri"/>
              <a:ea typeface="Calibri"/>
              <a:cs typeface="Calibri"/>
              <a:sym typeface="Calibri"/>
            </a:endParaRPr>
          </a:p>
          <a:p>
            <a:pPr indent="-304800" lvl="0" marL="457200" rtl="0" algn="l">
              <a:spcBef>
                <a:spcPts val="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Detect visual artifacts and texture inconsistencies</a:t>
            </a:r>
            <a:endParaRPr sz="1200">
              <a:solidFill>
                <a:srgbClr val="333333"/>
              </a:solidFill>
              <a:latin typeface="Calibri"/>
              <a:ea typeface="Calibri"/>
              <a:cs typeface="Calibri"/>
              <a:sym typeface="Calibri"/>
            </a:endParaRPr>
          </a:p>
          <a:p>
            <a:pPr indent="-304800" lvl="0" marL="457200" rtl="0" algn="l">
              <a:spcBef>
                <a:spcPts val="0"/>
              </a:spcBef>
              <a:spcAft>
                <a:spcPts val="0"/>
              </a:spcAft>
              <a:buClr>
                <a:schemeClr val="dk1"/>
              </a:buClr>
              <a:buSzPts val="1200"/>
              <a:buFont typeface="Calibri"/>
              <a:buChar char="●"/>
            </a:pPr>
            <a:r>
              <a:rPr lang="en-US" sz="1200">
                <a:solidFill>
                  <a:srgbClr val="333333"/>
                </a:solidFill>
                <a:latin typeface="Calibri"/>
                <a:ea typeface="Calibri"/>
                <a:cs typeface="Calibri"/>
                <a:sym typeface="Calibri"/>
              </a:rPr>
              <a:t>High accuracy on known datasets but poor generalizatio</a:t>
            </a:r>
            <a:r>
              <a:rPr lang="en-US" sz="1200">
                <a:solidFill>
                  <a:schemeClr val="dk1"/>
                </a:solidFill>
                <a:latin typeface="Calibri"/>
                <a:ea typeface="Calibri"/>
                <a:cs typeface="Calibri"/>
                <a:sym typeface="Calibri"/>
              </a:rPr>
              <a:t>n</a:t>
            </a:r>
            <a:endParaRPr sz="1200">
              <a:solidFill>
                <a:srgbClr val="2C3E50"/>
              </a:solidFill>
              <a:latin typeface="Calibri"/>
              <a:ea typeface="Calibri"/>
              <a:cs typeface="Calibri"/>
              <a:sym typeface="Calibri"/>
            </a:endParaRPr>
          </a:p>
        </p:txBody>
      </p:sp>
      <p:sp>
        <p:nvSpPr>
          <p:cNvPr id="194" name="Google Shape;194;p7"/>
          <p:cNvSpPr/>
          <p:nvPr/>
        </p:nvSpPr>
        <p:spPr>
          <a:xfrm>
            <a:off x="320040" y="2377440"/>
            <a:ext cx="850392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320040" y="2377440"/>
            <a:ext cx="1097280" cy="12618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329184" y="2688336"/>
            <a:ext cx="1060704"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i="0" lang="en-US" sz="900" u="none" cap="none" strike="noStrike">
                <a:solidFill>
                  <a:srgbClr val="FFFFFF"/>
                </a:solidFill>
                <a:latin typeface="Calibri"/>
                <a:ea typeface="Calibri"/>
                <a:cs typeface="Calibri"/>
                <a:sym typeface="Calibri"/>
              </a:rPr>
              <a:t>Phase 2</a:t>
            </a:r>
            <a:endParaRPr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i="0" lang="en-US" sz="900" u="none" cap="none" strike="noStrike">
                <a:solidFill>
                  <a:srgbClr val="FFFFFF"/>
                </a:solidFill>
                <a:latin typeface="Calibri"/>
                <a:ea typeface="Calibri"/>
                <a:cs typeface="Calibri"/>
                <a:sym typeface="Calibri"/>
              </a:rPr>
              <a:t>20</a:t>
            </a:r>
            <a:r>
              <a:rPr lang="en-US" sz="900">
                <a:solidFill>
                  <a:srgbClr val="FFFFFF"/>
                </a:solidFill>
                <a:latin typeface="Calibri"/>
                <a:ea typeface="Calibri"/>
                <a:cs typeface="Calibri"/>
                <a:sym typeface="Calibri"/>
              </a:rPr>
              <a:t>22</a:t>
            </a:r>
            <a:r>
              <a:rPr i="0" lang="en-US" sz="900" u="none" cap="none" strike="noStrike">
                <a:solidFill>
                  <a:srgbClr val="FFFFFF"/>
                </a:solidFill>
                <a:latin typeface="Calibri"/>
                <a:ea typeface="Calibri"/>
                <a:cs typeface="Calibri"/>
                <a:sym typeface="Calibri"/>
              </a:rPr>
              <a:t>–202</a:t>
            </a:r>
            <a:r>
              <a:rPr lang="en-US" sz="900">
                <a:solidFill>
                  <a:srgbClr val="FFFFFF"/>
                </a:solidFill>
                <a:latin typeface="Calibri"/>
                <a:ea typeface="Calibri"/>
                <a:cs typeface="Calibri"/>
                <a:sym typeface="Calibri"/>
              </a:rPr>
              <a:t>4</a:t>
            </a:r>
            <a:endParaRPr i="0" sz="900" u="none" cap="none" strike="noStrike">
              <a:solidFill>
                <a:schemeClr val="dk1"/>
              </a:solidFill>
              <a:latin typeface="Calibri"/>
              <a:ea typeface="Calibri"/>
              <a:cs typeface="Calibri"/>
              <a:sym typeface="Calibri"/>
            </a:endParaRPr>
          </a:p>
        </p:txBody>
      </p:sp>
      <p:sp>
        <p:nvSpPr>
          <p:cNvPr id="197" name="Google Shape;197;p7"/>
          <p:cNvSpPr/>
          <p:nvPr/>
        </p:nvSpPr>
        <p:spPr>
          <a:xfrm>
            <a:off x="1508760" y="2441448"/>
            <a:ext cx="7178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6E3A"/>
              </a:buClr>
              <a:buSzPts val="1150"/>
              <a:buFont typeface="Calibri"/>
              <a:buNone/>
            </a:pPr>
            <a:r>
              <a:rPr lang="en-US" sz="1150">
                <a:solidFill>
                  <a:srgbClr val="1A6E3A"/>
                </a:solidFill>
                <a:latin typeface="Calibri"/>
                <a:ea typeface="Calibri"/>
                <a:cs typeface="Calibri"/>
                <a:sym typeface="Calibri"/>
              </a:rPr>
              <a:t>Improved Deepfake Models</a:t>
            </a:r>
            <a:endParaRPr i="0" sz="1150" u="none" cap="none" strike="noStrike">
              <a:solidFill>
                <a:schemeClr val="dk1"/>
              </a:solidFill>
              <a:latin typeface="Calibri"/>
              <a:ea typeface="Calibri"/>
              <a:cs typeface="Calibri"/>
              <a:sym typeface="Calibri"/>
            </a:endParaRPr>
          </a:p>
        </p:txBody>
      </p:sp>
      <p:sp>
        <p:nvSpPr>
          <p:cNvPr id="198" name="Google Shape;198;p7"/>
          <p:cNvSpPr/>
          <p:nvPr/>
        </p:nvSpPr>
        <p:spPr>
          <a:xfrm>
            <a:off x="1508760" y="2715768"/>
            <a:ext cx="7178040" cy="841248"/>
          </a:xfrm>
          <a:prstGeom prst="rect">
            <a:avLst/>
          </a:prstGeom>
          <a:noFill/>
          <a:ln>
            <a:noFill/>
          </a:ln>
        </p:spPr>
        <p:txBody>
          <a:bodyPr anchorCtr="0" anchor="t" bIns="45700" lIns="91425" spcFirstLastPara="1" rIns="91425" wrap="square" tIns="45700">
            <a:noAutofit/>
          </a:bodyPr>
          <a:lstStyle/>
          <a:p>
            <a:pPr indent="-298450" lvl="0" marL="457200" marR="0" rtl="0" algn="l">
              <a:spcBef>
                <a:spcPts val="20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Researchers start combining spatial and temporal features in audio and video. [6]</a:t>
            </a:r>
            <a:endParaRPr sz="1100">
              <a:solidFill>
                <a:srgbClr val="2C3E50"/>
              </a:solidFill>
              <a:latin typeface="Calibri"/>
              <a:ea typeface="Calibri"/>
              <a:cs typeface="Calibri"/>
              <a:sym typeface="Calibri"/>
            </a:endParaRPr>
          </a:p>
          <a:p>
            <a:pPr indent="-298450" lvl="0" marL="4572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Some </a:t>
            </a:r>
            <a:r>
              <a:rPr lang="en-US" sz="1100">
                <a:solidFill>
                  <a:srgbClr val="2C3E50"/>
                </a:solidFill>
                <a:latin typeface="Calibri"/>
                <a:ea typeface="Calibri"/>
                <a:cs typeface="Calibri"/>
                <a:sym typeface="Calibri"/>
              </a:rPr>
              <a:t>work</a:t>
            </a:r>
            <a:r>
              <a:rPr lang="en-US" sz="1100">
                <a:solidFill>
                  <a:srgbClr val="2C3E50"/>
                </a:solidFill>
                <a:latin typeface="Calibri"/>
                <a:ea typeface="Calibri"/>
                <a:cs typeface="Calibri"/>
                <a:sym typeface="Calibri"/>
              </a:rPr>
              <a:t> explores audio-visual consistency. [7]</a:t>
            </a:r>
            <a:endParaRPr sz="1100">
              <a:solidFill>
                <a:srgbClr val="2C3E50"/>
              </a:solidFill>
              <a:latin typeface="Calibri"/>
              <a:ea typeface="Calibri"/>
              <a:cs typeface="Calibri"/>
              <a:sym typeface="Calibri"/>
            </a:endParaRPr>
          </a:p>
          <a:p>
            <a:pPr indent="-298450" lvl="0" marL="4572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Detection becomes more </a:t>
            </a:r>
            <a:r>
              <a:rPr lang="en-US" sz="1100">
                <a:solidFill>
                  <a:srgbClr val="2C3E50"/>
                </a:solidFill>
                <a:latin typeface="Calibri"/>
                <a:ea typeface="Calibri"/>
                <a:cs typeface="Calibri"/>
                <a:sym typeface="Calibri"/>
              </a:rPr>
              <a:t>challenging</a:t>
            </a:r>
            <a:r>
              <a:rPr lang="en-US" sz="1100">
                <a:solidFill>
                  <a:srgbClr val="2C3E50"/>
                </a:solidFill>
                <a:latin typeface="Calibri"/>
                <a:ea typeface="Calibri"/>
                <a:cs typeface="Calibri"/>
                <a:sym typeface="Calibri"/>
              </a:rPr>
              <a:t> as deepfake quality improves.[9]</a:t>
            </a:r>
            <a:endParaRPr sz="1100">
              <a:solidFill>
                <a:srgbClr val="2C3E50"/>
              </a:solidFill>
              <a:latin typeface="Calibri"/>
              <a:ea typeface="Calibri"/>
              <a:cs typeface="Calibri"/>
              <a:sym typeface="Calibri"/>
            </a:endParaRPr>
          </a:p>
        </p:txBody>
      </p:sp>
      <p:sp>
        <p:nvSpPr>
          <p:cNvPr id="199" name="Google Shape;199;p7"/>
          <p:cNvSpPr/>
          <p:nvPr/>
        </p:nvSpPr>
        <p:spPr>
          <a:xfrm>
            <a:off x="320040" y="3749040"/>
            <a:ext cx="8503920" cy="12618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320040" y="3749040"/>
            <a:ext cx="1097280" cy="12618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329184" y="4059936"/>
            <a:ext cx="1060704"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i="0" lang="en-US" sz="900" u="none" cap="none" strike="noStrike">
                <a:solidFill>
                  <a:srgbClr val="FFFFFF"/>
                </a:solidFill>
                <a:latin typeface="Calibri"/>
                <a:ea typeface="Calibri"/>
                <a:cs typeface="Calibri"/>
                <a:sym typeface="Calibri"/>
              </a:rPr>
              <a:t>Phase 3</a:t>
            </a:r>
            <a:endParaRPr i="0" sz="9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900"/>
              <a:buFont typeface="Calibri"/>
              <a:buNone/>
            </a:pPr>
            <a:r>
              <a:rPr i="0" lang="en-US" sz="900" u="none" cap="none" strike="noStrike">
                <a:solidFill>
                  <a:srgbClr val="FFFFFF"/>
                </a:solidFill>
                <a:latin typeface="Calibri"/>
                <a:ea typeface="Calibri"/>
                <a:cs typeface="Calibri"/>
                <a:sym typeface="Calibri"/>
              </a:rPr>
              <a:t>202</a:t>
            </a:r>
            <a:r>
              <a:rPr lang="en-US" sz="900">
                <a:solidFill>
                  <a:srgbClr val="FFFFFF"/>
                </a:solidFill>
                <a:latin typeface="Calibri"/>
                <a:ea typeface="Calibri"/>
                <a:cs typeface="Calibri"/>
                <a:sym typeface="Calibri"/>
              </a:rPr>
              <a:t>4</a:t>
            </a:r>
            <a:r>
              <a:rPr i="0" lang="en-US" sz="900" u="none" cap="none" strike="noStrike">
                <a:solidFill>
                  <a:srgbClr val="FFFFFF"/>
                </a:solidFill>
                <a:latin typeface="Calibri"/>
                <a:ea typeface="Calibri"/>
                <a:cs typeface="Calibri"/>
                <a:sym typeface="Calibri"/>
              </a:rPr>
              <a:t>–2025</a:t>
            </a:r>
            <a:endParaRPr i="0" sz="900" u="none" cap="none" strike="noStrike">
              <a:solidFill>
                <a:schemeClr val="dk1"/>
              </a:solidFill>
              <a:latin typeface="Calibri"/>
              <a:ea typeface="Calibri"/>
              <a:cs typeface="Calibri"/>
              <a:sym typeface="Calibri"/>
            </a:endParaRPr>
          </a:p>
        </p:txBody>
      </p:sp>
      <p:sp>
        <p:nvSpPr>
          <p:cNvPr id="202" name="Google Shape;202;p7"/>
          <p:cNvSpPr/>
          <p:nvPr/>
        </p:nvSpPr>
        <p:spPr>
          <a:xfrm>
            <a:off x="1508760" y="3813048"/>
            <a:ext cx="717804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3A9A"/>
              </a:buClr>
              <a:buSzPts val="1150"/>
              <a:buFont typeface="Calibri"/>
              <a:buNone/>
            </a:pPr>
            <a:r>
              <a:rPr lang="en-US" sz="1150">
                <a:solidFill>
                  <a:srgbClr val="5E3A9A"/>
                </a:solidFill>
                <a:latin typeface="Calibri"/>
                <a:ea typeface="Calibri"/>
                <a:cs typeface="Calibri"/>
                <a:sym typeface="Calibri"/>
              </a:rPr>
              <a:t>Advanced Deepfake Detection</a:t>
            </a:r>
            <a:endParaRPr i="0" sz="1150" u="none" cap="none" strike="noStrike">
              <a:solidFill>
                <a:schemeClr val="dk1"/>
              </a:solidFill>
              <a:latin typeface="Calibri"/>
              <a:ea typeface="Calibri"/>
              <a:cs typeface="Calibri"/>
              <a:sym typeface="Calibri"/>
            </a:endParaRPr>
          </a:p>
        </p:txBody>
      </p:sp>
      <p:sp>
        <p:nvSpPr>
          <p:cNvPr id="203" name="Google Shape;203;p7"/>
          <p:cNvSpPr/>
          <p:nvPr/>
        </p:nvSpPr>
        <p:spPr>
          <a:xfrm>
            <a:off x="1508760" y="4087368"/>
            <a:ext cx="7178100" cy="841200"/>
          </a:xfrm>
          <a:prstGeom prst="rect">
            <a:avLst/>
          </a:prstGeom>
          <a:noFill/>
          <a:ln>
            <a:noFill/>
          </a:ln>
        </p:spPr>
        <p:txBody>
          <a:bodyPr anchorCtr="0" anchor="t" bIns="45700" lIns="91425" spcFirstLastPara="1" rIns="91425" wrap="square" tIns="45700">
            <a:noAutofit/>
          </a:bodyPr>
          <a:lstStyle/>
          <a:p>
            <a:pPr indent="-298450" lvl="0" marL="457200" marR="0" rtl="0" algn="l">
              <a:spcBef>
                <a:spcPts val="20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Recent work includes audio and video based detection methods. [6]</a:t>
            </a:r>
            <a:endParaRPr sz="1100">
              <a:solidFill>
                <a:srgbClr val="2C3E50"/>
              </a:solidFill>
              <a:latin typeface="Calibri"/>
              <a:ea typeface="Calibri"/>
              <a:cs typeface="Calibri"/>
              <a:sym typeface="Calibri"/>
            </a:endParaRPr>
          </a:p>
          <a:p>
            <a:pPr indent="-298450" lvl="0" marL="457200" marR="0" rtl="0" algn="l">
              <a:spcBef>
                <a:spcPts val="0"/>
              </a:spcBef>
              <a:spcAft>
                <a:spcPts val="0"/>
              </a:spcAft>
              <a:buClr>
                <a:srgbClr val="2C3E50"/>
              </a:buClr>
              <a:buSzPts val="1100"/>
              <a:buFont typeface="Calibri"/>
              <a:buChar char="●"/>
            </a:pPr>
            <a:r>
              <a:rPr lang="en-US" sz="1100">
                <a:solidFill>
                  <a:srgbClr val="2C3E50"/>
                </a:solidFill>
                <a:latin typeface="Calibri"/>
                <a:ea typeface="Calibri"/>
                <a:cs typeface="Calibri"/>
                <a:sym typeface="Calibri"/>
              </a:rPr>
              <a:t>Multimodal approaches combine different data sources. [7]</a:t>
            </a:r>
            <a:endParaRPr sz="1100">
              <a:solidFill>
                <a:srgbClr val="2C3E50"/>
              </a:solidFill>
              <a:latin typeface="Calibri"/>
              <a:ea typeface="Calibri"/>
              <a:cs typeface="Calibri"/>
              <a:sym typeface="Calibri"/>
            </a:endParaRPr>
          </a:p>
          <a:p>
            <a:pPr indent="0" lvl="0" marL="457200" marR="0" rtl="0" algn="l">
              <a:spcBef>
                <a:spcPts val="200"/>
              </a:spcBef>
              <a:spcAft>
                <a:spcPts val="0"/>
              </a:spcAft>
              <a:buNone/>
            </a:pPr>
            <a:r>
              <a:t/>
            </a:r>
            <a:endParaRPr sz="1100">
              <a:solidFill>
                <a:srgbClr val="2C3E5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208" name="Shape 208"/>
        <p:cNvGrpSpPr/>
        <p:nvPr/>
      </p:nvGrpSpPr>
      <p:grpSpPr>
        <a:xfrm>
          <a:off x="0" y="0"/>
          <a:ext cx="0" cy="0"/>
          <a:chOff x="0" y="0"/>
          <a:chExt cx="0" cy="0"/>
        </a:xfrm>
      </p:grpSpPr>
      <p:sp>
        <p:nvSpPr>
          <p:cNvPr id="209" name="Google Shape;209;p8"/>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320040" y="182880"/>
            <a:ext cx="8503920" cy="658368"/>
          </a:xfrm>
          <a:prstGeom prst="rect">
            <a:avLst/>
          </a:prstGeom>
          <a:solidFill>
            <a:srgbClr val="1A56A0"/>
          </a:solidFill>
          <a:ln cap="flat" cmpd="sng" w="12700">
            <a:solidFill>
              <a:srgbClr val="1A56A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402300" y="201237"/>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IMAGE Detection </a:t>
            </a:r>
            <a:r>
              <a:rPr b="1" lang="en-US" sz="2200">
                <a:solidFill>
                  <a:srgbClr val="FFFFFF"/>
                </a:solidFill>
                <a:latin typeface="Calibri"/>
                <a:ea typeface="Calibri"/>
                <a:cs typeface="Calibri"/>
                <a:sym typeface="Calibri"/>
              </a:rPr>
              <a:t>:</a:t>
            </a:r>
            <a:r>
              <a:rPr b="1" i="0" lang="en-US" sz="2200" u="none" cap="none" strike="noStrike">
                <a:solidFill>
                  <a:srgbClr val="FFFFFF"/>
                </a:solidFill>
                <a:latin typeface="Calibri"/>
                <a:ea typeface="Calibri"/>
                <a:cs typeface="Calibri"/>
                <a:sym typeface="Calibri"/>
              </a:rPr>
              <a:t> Techniques &amp; Methods</a:t>
            </a:r>
            <a:endParaRPr b="0" i="0" sz="2200" u="none" cap="none" strike="noStrike">
              <a:solidFill>
                <a:schemeClr val="dk1"/>
              </a:solidFill>
              <a:latin typeface="Calibri"/>
              <a:ea typeface="Calibri"/>
              <a:cs typeface="Calibri"/>
              <a:sym typeface="Calibri"/>
            </a:endParaRPr>
          </a:p>
        </p:txBody>
      </p:sp>
      <p:sp>
        <p:nvSpPr>
          <p:cNvPr id="212" name="Google Shape;212;p8"/>
          <p:cNvSpPr/>
          <p:nvPr/>
        </p:nvSpPr>
        <p:spPr>
          <a:xfrm>
            <a:off x="32004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320040" y="1005840"/>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402306" y="1042479"/>
            <a:ext cx="2606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Basic Feature Extraction</a:t>
            </a:r>
            <a:endParaRPr b="0" i="0" sz="1200" u="none" cap="none" strike="noStrike">
              <a:solidFill>
                <a:schemeClr val="dk1"/>
              </a:solidFill>
              <a:latin typeface="Calibri"/>
              <a:ea typeface="Calibri"/>
              <a:cs typeface="Calibri"/>
              <a:sym typeface="Calibri"/>
            </a:endParaRPr>
          </a:p>
        </p:txBody>
      </p:sp>
      <p:sp>
        <p:nvSpPr>
          <p:cNvPr id="215" name="Google Shape;215;p8"/>
          <p:cNvSpPr/>
          <p:nvPr/>
        </p:nvSpPr>
        <p:spPr>
          <a:xfrm>
            <a:off x="320043" y="1426464"/>
            <a:ext cx="2606100" cy="1426500"/>
          </a:xfrm>
          <a:prstGeom prst="rect">
            <a:avLst/>
          </a:prstGeom>
          <a:noFill/>
          <a:ln>
            <a:noFill/>
          </a:ln>
        </p:spPr>
        <p:txBody>
          <a:bodyPr anchorCtr="0" anchor="t" bIns="45700" lIns="91425" spcFirstLastPara="1" rIns="91425" wrap="square" tIns="45700">
            <a:noAutofit/>
          </a:bodyPr>
          <a:lstStyle/>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Extract features like edges, textures and color patterns.</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Helps in distinguishing real vs fake images.</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Used as input for detection methods.</a:t>
            </a:r>
            <a:endParaRPr sz="1200">
              <a:solidFill>
                <a:srgbClr val="2C3E50"/>
              </a:solidFill>
              <a:latin typeface="Calibri"/>
              <a:ea typeface="Calibri"/>
              <a:cs typeface="Calibri"/>
              <a:sym typeface="Calibri"/>
            </a:endParaRPr>
          </a:p>
          <a:p>
            <a:pPr indent="0" lvl="0" marL="457200" marR="0" rtl="0" algn="l">
              <a:spcBef>
                <a:spcPts val="300"/>
              </a:spcBef>
              <a:spcAft>
                <a:spcPts val="0"/>
              </a:spcAft>
              <a:buNone/>
            </a:pPr>
            <a:r>
              <a:t/>
            </a:r>
            <a:endParaRPr sz="1200">
              <a:solidFill>
                <a:srgbClr val="2C3E50"/>
              </a:solidFill>
              <a:latin typeface="Calibri"/>
              <a:ea typeface="Calibri"/>
              <a:cs typeface="Calibri"/>
              <a:sym typeface="Calibri"/>
            </a:endParaRPr>
          </a:p>
        </p:txBody>
      </p:sp>
      <p:sp>
        <p:nvSpPr>
          <p:cNvPr id="216" name="Google Shape;216;p8"/>
          <p:cNvSpPr/>
          <p:nvPr/>
        </p:nvSpPr>
        <p:spPr>
          <a:xfrm>
            <a:off x="324612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3246120" y="1005840"/>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3355848" y="10424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CNN Based Image Detection</a:t>
            </a:r>
            <a:endParaRPr b="0" i="0" sz="1200" u="none" cap="none" strike="noStrike">
              <a:solidFill>
                <a:schemeClr val="dk1"/>
              </a:solidFill>
              <a:latin typeface="Calibri"/>
              <a:ea typeface="Calibri"/>
              <a:cs typeface="Calibri"/>
              <a:sym typeface="Calibri"/>
            </a:endParaRPr>
          </a:p>
        </p:txBody>
      </p:sp>
      <p:sp>
        <p:nvSpPr>
          <p:cNvPr id="219" name="Google Shape;219;p8"/>
          <p:cNvSpPr/>
          <p:nvPr/>
        </p:nvSpPr>
        <p:spPr>
          <a:xfrm>
            <a:off x="3355848" y="1426464"/>
            <a:ext cx="2606040" cy="1426464"/>
          </a:xfrm>
          <a:prstGeom prst="rect">
            <a:avLst/>
          </a:prstGeom>
          <a:noFill/>
          <a:ln>
            <a:noFill/>
          </a:ln>
        </p:spPr>
        <p:txBody>
          <a:bodyPr anchorCtr="0" anchor="t" bIns="45700" lIns="91425" spcFirstLastPara="1" rIns="91425" wrap="square" tIns="45700">
            <a:noAutofit/>
          </a:bodyPr>
          <a:lstStyle/>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Use CNN models to learn patterns in images.</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Detect visual inconsistencies in fake images.</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Focus on facial regions and textures.</a:t>
            </a:r>
            <a:endParaRPr sz="1200">
              <a:solidFill>
                <a:srgbClr val="2C3E50"/>
              </a:solidFill>
              <a:latin typeface="Calibri"/>
              <a:ea typeface="Calibri"/>
              <a:cs typeface="Calibri"/>
              <a:sym typeface="Calibri"/>
            </a:endParaRPr>
          </a:p>
          <a:p>
            <a:pPr indent="0" lvl="0" marL="457200" marR="0" rtl="0" algn="l">
              <a:spcBef>
                <a:spcPts val="300"/>
              </a:spcBef>
              <a:spcAft>
                <a:spcPts val="0"/>
              </a:spcAft>
              <a:buNone/>
            </a:pPr>
            <a:r>
              <a:t/>
            </a:r>
            <a:endParaRPr sz="1200">
              <a:solidFill>
                <a:srgbClr val="2C3E50"/>
              </a:solidFill>
              <a:latin typeface="Calibri"/>
              <a:ea typeface="Calibri"/>
              <a:cs typeface="Calibri"/>
              <a:sym typeface="Calibri"/>
            </a:endParaRPr>
          </a:p>
        </p:txBody>
      </p:sp>
      <p:sp>
        <p:nvSpPr>
          <p:cNvPr id="220" name="Google Shape;220;p8"/>
          <p:cNvSpPr/>
          <p:nvPr/>
        </p:nvSpPr>
        <p:spPr>
          <a:xfrm>
            <a:off x="617220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6172200" y="1005840"/>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6281928" y="1042416"/>
            <a:ext cx="260604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Frequency Based Analysis </a:t>
            </a:r>
            <a:endParaRPr b="0" i="0" sz="1200" u="none" cap="none" strike="noStrike">
              <a:solidFill>
                <a:schemeClr val="dk1"/>
              </a:solidFill>
              <a:latin typeface="Calibri"/>
              <a:ea typeface="Calibri"/>
              <a:cs typeface="Calibri"/>
              <a:sym typeface="Calibri"/>
            </a:endParaRPr>
          </a:p>
        </p:txBody>
      </p:sp>
      <p:sp>
        <p:nvSpPr>
          <p:cNvPr id="223" name="Google Shape;223;p8"/>
          <p:cNvSpPr/>
          <p:nvPr/>
        </p:nvSpPr>
        <p:spPr>
          <a:xfrm>
            <a:off x="6281928" y="1426464"/>
            <a:ext cx="2606040" cy="1426464"/>
          </a:xfrm>
          <a:prstGeom prst="rect">
            <a:avLst/>
          </a:prstGeom>
          <a:noFill/>
          <a:ln>
            <a:noFill/>
          </a:ln>
        </p:spPr>
        <p:txBody>
          <a:bodyPr anchorCtr="0" anchor="t" bIns="45700" lIns="91425" spcFirstLastPara="1" rIns="91425" wrap="square" tIns="45700">
            <a:noAutofit/>
          </a:bodyPr>
          <a:lstStyle/>
          <a:p>
            <a:pPr indent="0" lvl="0" marL="0" rtl="0" algn="l">
              <a:spcBef>
                <a:spcPts val="300"/>
              </a:spcBef>
              <a:spcAft>
                <a:spcPts val="0"/>
              </a:spcAft>
              <a:buNone/>
            </a:pPr>
            <a:r>
              <a:rPr lang="en-US" sz="1200">
                <a:solidFill>
                  <a:srgbClr val="2C3E50"/>
                </a:solidFill>
                <a:latin typeface="Calibri"/>
                <a:ea typeface="Calibri"/>
                <a:cs typeface="Calibri"/>
                <a:sym typeface="Calibri"/>
              </a:rPr>
              <a:t>Analyze images in frequency domain.</a:t>
            </a:r>
            <a:endParaRPr sz="1200">
              <a:solidFill>
                <a:srgbClr val="2C3E50"/>
              </a:solidFill>
              <a:latin typeface="Calibri"/>
              <a:ea typeface="Calibri"/>
              <a:cs typeface="Calibri"/>
              <a:sym typeface="Calibri"/>
            </a:endParaRPr>
          </a:p>
          <a:p>
            <a:pPr indent="0" lvl="0" marL="0" rtl="0" algn="l">
              <a:spcBef>
                <a:spcPts val="300"/>
              </a:spcBef>
              <a:spcAft>
                <a:spcPts val="0"/>
              </a:spcAft>
              <a:buNone/>
            </a:pPr>
            <a:r>
              <a:rPr lang="en-US" sz="1200">
                <a:solidFill>
                  <a:srgbClr val="2C3E50"/>
                </a:solidFill>
                <a:latin typeface="Calibri"/>
                <a:ea typeface="Calibri"/>
                <a:cs typeface="Calibri"/>
                <a:sym typeface="Calibri"/>
              </a:rPr>
              <a:t>Detect hidden patterns not visible in pixel scale.</a:t>
            </a:r>
            <a:endParaRPr sz="1200">
              <a:solidFill>
                <a:srgbClr val="2C3E50"/>
              </a:solidFill>
              <a:latin typeface="Calibri"/>
              <a:ea typeface="Calibri"/>
              <a:cs typeface="Calibri"/>
              <a:sym typeface="Calibri"/>
            </a:endParaRPr>
          </a:p>
          <a:p>
            <a:pPr indent="0" lvl="0" marL="0" rtl="0" algn="l">
              <a:spcBef>
                <a:spcPts val="300"/>
              </a:spcBef>
              <a:spcAft>
                <a:spcPts val="0"/>
              </a:spcAft>
              <a:buNone/>
            </a:pPr>
            <a:r>
              <a:rPr lang="en-US" sz="1200">
                <a:solidFill>
                  <a:srgbClr val="2C3E50"/>
                </a:solidFill>
                <a:latin typeface="Calibri"/>
                <a:ea typeface="Calibri"/>
                <a:cs typeface="Calibri"/>
                <a:sym typeface="Calibri"/>
              </a:rPr>
              <a:t>Useful for identifying manipulation artifacts</a:t>
            </a:r>
            <a:endParaRPr sz="1200">
              <a:solidFill>
                <a:srgbClr val="2C3E50"/>
              </a:solidFill>
              <a:latin typeface="Calibri"/>
              <a:ea typeface="Calibri"/>
              <a:cs typeface="Calibri"/>
              <a:sym typeface="Calibri"/>
            </a:endParaRPr>
          </a:p>
        </p:txBody>
      </p:sp>
      <p:sp>
        <p:nvSpPr>
          <p:cNvPr id="224" name="Google Shape;224;p8"/>
          <p:cNvSpPr/>
          <p:nvPr/>
        </p:nvSpPr>
        <p:spPr>
          <a:xfrm>
            <a:off x="32004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320040" y="3063240"/>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429768" y="30998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chemeClr val="lt1"/>
                </a:solidFill>
                <a:latin typeface="Calibri"/>
                <a:ea typeface="Calibri"/>
                <a:cs typeface="Calibri"/>
                <a:sym typeface="Calibri"/>
              </a:rPr>
              <a:t>Attention Based Detection</a:t>
            </a:r>
            <a:endParaRPr b="0" i="0" sz="1200" u="none" cap="none" strike="noStrike">
              <a:solidFill>
                <a:schemeClr val="dk1"/>
              </a:solidFill>
              <a:latin typeface="Calibri"/>
              <a:ea typeface="Calibri"/>
              <a:cs typeface="Calibri"/>
              <a:sym typeface="Calibri"/>
            </a:endParaRPr>
          </a:p>
        </p:txBody>
      </p:sp>
      <p:sp>
        <p:nvSpPr>
          <p:cNvPr id="227" name="Google Shape;227;p8"/>
          <p:cNvSpPr/>
          <p:nvPr/>
        </p:nvSpPr>
        <p:spPr>
          <a:xfrm>
            <a:off x="429768" y="3483864"/>
            <a:ext cx="2606040" cy="1426464"/>
          </a:xfrm>
          <a:prstGeom prst="rect">
            <a:avLst/>
          </a:prstGeom>
          <a:noFill/>
          <a:ln>
            <a:noFill/>
          </a:ln>
        </p:spPr>
        <p:txBody>
          <a:bodyPr anchorCtr="0" anchor="t" bIns="45700" lIns="91425" spcFirstLastPara="1" rIns="91425" wrap="square" tIns="45700">
            <a:noAutofit/>
          </a:bodyPr>
          <a:lstStyle/>
          <a:p>
            <a:pPr indent="-355600" lvl="0" marL="3429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Focus on important regions in images.</a:t>
            </a:r>
            <a:endParaRPr sz="1200">
              <a:solidFill>
                <a:srgbClr val="2C3E50"/>
              </a:solidFill>
              <a:latin typeface="Calibri"/>
              <a:ea typeface="Calibri"/>
              <a:cs typeface="Calibri"/>
              <a:sym typeface="Calibri"/>
            </a:endParaRPr>
          </a:p>
          <a:p>
            <a:pPr indent="-355600" lvl="0" marL="3429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Helps locate manipulated areas.</a:t>
            </a:r>
            <a:endParaRPr sz="1200">
              <a:solidFill>
                <a:srgbClr val="2C3E50"/>
              </a:solidFill>
              <a:latin typeface="Calibri"/>
              <a:ea typeface="Calibri"/>
              <a:cs typeface="Calibri"/>
              <a:sym typeface="Calibri"/>
            </a:endParaRPr>
          </a:p>
          <a:p>
            <a:pPr indent="-355600" lvl="0" marL="3429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Improves detection performance.</a:t>
            </a:r>
            <a:endParaRPr sz="1200">
              <a:solidFill>
                <a:srgbClr val="2C3E50"/>
              </a:solidFill>
              <a:latin typeface="Calibri"/>
              <a:ea typeface="Calibri"/>
              <a:cs typeface="Calibri"/>
              <a:sym typeface="Calibri"/>
            </a:endParaRPr>
          </a:p>
        </p:txBody>
      </p:sp>
      <p:sp>
        <p:nvSpPr>
          <p:cNvPr id="228" name="Google Shape;228;p8"/>
          <p:cNvSpPr/>
          <p:nvPr/>
        </p:nvSpPr>
        <p:spPr>
          <a:xfrm>
            <a:off x="324612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3246120" y="3063240"/>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3355848" y="30998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Generalization Focus</a:t>
            </a:r>
            <a:endParaRPr b="0" i="0" sz="1200" u="none" cap="none" strike="noStrike">
              <a:solidFill>
                <a:schemeClr val="dk1"/>
              </a:solidFill>
              <a:latin typeface="Calibri"/>
              <a:ea typeface="Calibri"/>
              <a:cs typeface="Calibri"/>
              <a:sym typeface="Calibri"/>
            </a:endParaRPr>
          </a:p>
        </p:txBody>
      </p:sp>
      <p:sp>
        <p:nvSpPr>
          <p:cNvPr id="231" name="Google Shape;231;p8"/>
          <p:cNvSpPr/>
          <p:nvPr/>
        </p:nvSpPr>
        <p:spPr>
          <a:xfrm>
            <a:off x="3355848" y="3483864"/>
            <a:ext cx="2606040" cy="1426464"/>
          </a:xfrm>
          <a:prstGeom prst="rect">
            <a:avLst/>
          </a:prstGeom>
          <a:noFill/>
          <a:ln>
            <a:noFill/>
          </a:ln>
        </p:spPr>
        <p:txBody>
          <a:bodyPr anchorCtr="0" anchor="t" bIns="45700" lIns="91425" spcFirstLastPara="1" rIns="91425" wrap="square" tIns="45700">
            <a:noAutofit/>
          </a:bodyPr>
          <a:lstStyle/>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Study how models perform on unseen data.</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Compare results across different datasets and identify limitations in current approaches.</a:t>
            </a:r>
            <a:endParaRPr sz="1200">
              <a:solidFill>
                <a:srgbClr val="2C3E50"/>
              </a:solidFill>
              <a:latin typeface="Calibri"/>
              <a:ea typeface="Calibri"/>
              <a:cs typeface="Calibri"/>
              <a:sym typeface="Calibri"/>
            </a:endParaRPr>
          </a:p>
        </p:txBody>
      </p:sp>
      <p:sp>
        <p:nvSpPr>
          <p:cNvPr id="232" name="Google Shape;232;p8"/>
          <p:cNvSpPr/>
          <p:nvPr/>
        </p:nvSpPr>
        <p:spPr>
          <a:xfrm>
            <a:off x="617220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6172200" y="3063240"/>
            <a:ext cx="2788920" cy="347472"/>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6281928" y="30998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Combined Approach</a:t>
            </a:r>
            <a:endParaRPr b="0" i="0" sz="1200" u="none" cap="none" strike="noStrike">
              <a:solidFill>
                <a:schemeClr val="dk1"/>
              </a:solidFill>
              <a:latin typeface="Calibri"/>
              <a:ea typeface="Calibri"/>
              <a:cs typeface="Calibri"/>
              <a:sym typeface="Calibri"/>
            </a:endParaRPr>
          </a:p>
        </p:txBody>
      </p:sp>
      <p:sp>
        <p:nvSpPr>
          <p:cNvPr id="235" name="Google Shape;235;p8"/>
          <p:cNvSpPr/>
          <p:nvPr/>
        </p:nvSpPr>
        <p:spPr>
          <a:xfrm>
            <a:off x="6281928" y="3483864"/>
            <a:ext cx="2606040" cy="1426464"/>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Combine spatial and frequency features.</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Aim for better performance in real world conditions.</a:t>
            </a:r>
            <a:endParaRPr sz="1200">
              <a:solidFill>
                <a:srgbClr val="2C3E5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240" name="Shape 240"/>
        <p:cNvGrpSpPr/>
        <p:nvPr/>
      </p:nvGrpSpPr>
      <p:grpSpPr>
        <a:xfrm>
          <a:off x="0" y="0"/>
          <a:ext cx="0" cy="0"/>
          <a:chOff x="0" y="0"/>
          <a:chExt cx="0" cy="0"/>
        </a:xfrm>
      </p:grpSpPr>
      <p:sp>
        <p:nvSpPr>
          <p:cNvPr id="241" name="Google Shape;241;p9"/>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320050" y="182875"/>
            <a:ext cx="8641200" cy="658500"/>
          </a:xfrm>
          <a:prstGeom prst="rect">
            <a:avLst/>
          </a:prstGeom>
          <a:solidFill>
            <a:srgbClr val="1A6E3A"/>
          </a:solidFill>
          <a:ln cap="flat" cmpd="sng" w="12700">
            <a:solidFill>
              <a:srgbClr val="1A6E3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9"/>
          <p:cNvSpPr/>
          <p:nvPr/>
        </p:nvSpPr>
        <p:spPr>
          <a:xfrm>
            <a:off x="380625" y="210300"/>
            <a:ext cx="8306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VIDEO Detection </a:t>
            </a:r>
            <a:r>
              <a:rPr b="1" lang="en-US" sz="2200">
                <a:solidFill>
                  <a:srgbClr val="FFFFFF"/>
                </a:solidFill>
                <a:latin typeface="Calibri"/>
                <a:ea typeface="Calibri"/>
                <a:cs typeface="Calibri"/>
                <a:sym typeface="Calibri"/>
              </a:rPr>
              <a:t>:</a:t>
            </a:r>
            <a:r>
              <a:rPr b="1" i="0" lang="en-US" sz="2200" u="none" cap="none" strike="noStrike">
                <a:solidFill>
                  <a:srgbClr val="FFFFFF"/>
                </a:solidFill>
                <a:latin typeface="Calibri"/>
                <a:ea typeface="Calibri"/>
                <a:cs typeface="Calibri"/>
                <a:sym typeface="Calibri"/>
              </a:rPr>
              <a:t> Techniques &amp; Methods</a:t>
            </a:r>
            <a:endParaRPr b="0" i="0" sz="2200" u="none" cap="none" strike="noStrike">
              <a:solidFill>
                <a:schemeClr val="dk1"/>
              </a:solidFill>
              <a:latin typeface="Calibri"/>
              <a:ea typeface="Calibri"/>
              <a:cs typeface="Calibri"/>
              <a:sym typeface="Calibri"/>
            </a:endParaRPr>
          </a:p>
        </p:txBody>
      </p:sp>
      <p:sp>
        <p:nvSpPr>
          <p:cNvPr id="244" name="Google Shape;244;p9"/>
          <p:cNvSpPr/>
          <p:nvPr/>
        </p:nvSpPr>
        <p:spPr>
          <a:xfrm>
            <a:off x="32004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320040" y="1005840"/>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429768" y="10424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Frame</a:t>
            </a:r>
            <a:r>
              <a:rPr b="1" lang="en-US" sz="1200">
                <a:solidFill>
                  <a:srgbClr val="FFFFFF"/>
                </a:solidFill>
                <a:latin typeface="Calibri"/>
                <a:ea typeface="Calibri"/>
                <a:cs typeface="Calibri"/>
                <a:sym typeface="Calibri"/>
              </a:rPr>
              <a:t> </a:t>
            </a:r>
            <a:r>
              <a:rPr b="1" i="0" lang="en-US" sz="1200" u="none" cap="none" strike="noStrike">
                <a:solidFill>
                  <a:srgbClr val="FFFFFF"/>
                </a:solidFill>
                <a:latin typeface="Calibri"/>
                <a:ea typeface="Calibri"/>
                <a:cs typeface="Calibri"/>
                <a:sym typeface="Calibri"/>
              </a:rPr>
              <a:t>Level Detection</a:t>
            </a:r>
            <a:endParaRPr b="0" i="0" sz="1200" u="none" cap="none" strike="noStrike">
              <a:solidFill>
                <a:schemeClr val="dk1"/>
              </a:solidFill>
              <a:latin typeface="Calibri"/>
              <a:ea typeface="Calibri"/>
              <a:cs typeface="Calibri"/>
              <a:sym typeface="Calibri"/>
            </a:endParaRPr>
          </a:p>
        </p:txBody>
      </p:sp>
      <p:sp>
        <p:nvSpPr>
          <p:cNvPr id="247" name="Google Shape;247;p9"/>
          <p:cNvSpPr/>
          <p:nvPr/>
        </p:nvSpPr>
        <p:spPr>
          <a:xfrm>
            <a:off x="429768" y="1426464"/>
            <a:ext cx="2606040" cy="1426464"/>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Apply image based detection to individual frames.</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Analyze each frame separately.</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Combine results for final decision.</a:t>
            </a:r>
            <a:endParaRPr sz="1200">
              <a:solidFill>
                <a:srgbClr val="2C3E50"/>
              </a:solidFill>
              <a:latin typeface="Calibri"/>
              <a:ea typeface="Calibri"/>
              <a:cs typeface="Calibri"/>
              <a:sym typeface="Calibri"/>
            </a:endParaRPr>
          </a:p>
        </p:txBody>
      </p:sp>
      <p:sp>
        <p:nvSpPr>
          <p:cNvPr id="248" name="Google Shape;248;p9"/>
          <p:cNvSpPr/>
          <p:nvPr/>
        </p:nvSpPr>
        <p:spPr>
          <a:xfrm>
            <a:off x="324612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3246120" y="1005840"/>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3355848" y="10424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Temporal Consistency </a:t>
            </a:r>
            <a:endParaRPr b="0" i="0" sz="1200" u="none" cap="none" strike="noStrike">
              <a:solidFill>
                <a:schemeClr val="dk1"/>
              </a:solidFill>
              <a:latin typeface="Calibri"/>
              <a:ea typeface="Calibri"/>
              <a:cs typeface="Calibri"/>
              <a:sym typeface="Calibri"/>
            </a:endParaRPr>
          </a:p>
        </p:txBody>
      </p:sp>
      <p:sp>
        <p:nvSpPr>
          <p:cNvPr id="251" name="Google Shape;251;p9"/>
          <p:cNvSpPr/>
          <p:nvPr/>
        </p:nvSpPr>
        <p:spPr>
          <a:xfrm>
            <a:off x="3355848" y="1426464"/>
            <a:ext cx="2606040" cy="1426464"/>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Compare multiple frames over time.</a:t>
            </a:r>
            <a:endParaRPr sz="1200">
              <a:solidFill>
                <a:srgbClr val="333333"/>
              </a:solidFill>
              <a:latin typeface="Calibri"/>
              <a:ea typeface="Calibri"/>
              <a:cs typeface="Calibri"/>
              <a:sym typeface="Calibri"/>
            </a:endParaRPr>
          </a:p>
          <a:p>
            <a:pPr indent="-355600" lvl="0" marL="342900" marR="0" rtl="0" algn="l">
              <a:spcBef>
                <a:spcPts val="30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Detect inconsistencies in motion.</a:t>
            </a:r>
            <a:endParaRPr sz="1200">
              <a:solidFill>
                <a:srgbClr val="333333"/>
              </a:solidFill>
              <a:latin typeface="Calibri"/>
              <a:ea typeface="Calibri"/>
              <a:cs typeface="Calibri"/>
              <a:sym typeface="Calibri"/>
            </a:endParaRPr>
          </a:p>
          <a:p>
            <a:pPr indent="-355600" lvl="0" marL="342900" marR="0" rtl="0" algn="l">
              <a:spcBef>
                <a:spcPts val="300"/>
              </a:spcBef>
              <a:spcAft>
                <a:spcPts val="0"/>
              </a:spcAft>
              <a:buClr>
                <a:srgbClr val="333333"/>
              </a:buClr>
              <a:buSzPts val="1200"/>
              <a:buFont typeface="Calibri"/>
              <a:buChar char="•"/>
            </a:pPr>
            <a:r>
              <a:rPr lang="en-US" sz="1200">
                <a:solidFill>
                  <a:srgbClr val="333333"/>
                </a:solidFill>
                <a:latin typeface="Calibri"/>
                <a:ea typeface="Calibri"/>
                <a:cs typeface="Calibri"/>
                <a:sym typeface="Calibri"/>
              </a:rPr>
              <a:t>Helps identify fake video.</a:t>
            </a:r>
            <a:endParaRPr sz="1200">
              <a:solidFill>
                <a:srgbClr val="333333"/>
              </a:solidFill>
              <a:latin typeface="Calibri"/>
              <a:ea typeface="Calibri"/>
              <a:cs typeface="Calibri"/>
              <a:sym typeface="Calibri"/>
            </a:endParaRPr>
          </a:p>
        </p:txBody>
      </p:sp>
      <p:sp>
        <p:nvSpPr>
          <p:cNvPr id="252" name="Google Shape;252;p9"/>
          <p:cNvSpPr/>
          <p:nvPr/>
        </p:nvSpPr>
        <p:spPr>
          <a:xfrm>
            <a:off x="617220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9"/>
          <p:cNvSpPr/>
          <p:nvPr/>
        </p:nvSpPr>
        <p:spPr>
          <a:xfrm>
            <a:off x="6172200" y="1005840"/>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6281928" y="10424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Facial Movement Analysis</a:t>
            </a:r>
            <a:endParaRPr b="0" i="0" sz="1200" u="none" cap="none" strike="noStrike">
              <a:solidFill>
                <a:schemeClr val="dk1"/>
              </a:solidFill>
              <a:latin typeface="Calibri"/>
              <a:ea typeface="Calibri"/>
              <a:cs typeface="Calibri"/>
              <a:sym typeface="Calibri"/>
            </a:endParaRPr>
          </a:p>
        </p:txBody>
      </p:sp>
      <p:sp>
        <p:nvSpPr>
          <p:cNvPr id="255" name="Google Shape;255;p9"/>
          <p:cNvSpPr/>
          <p:nvPr/>
        </p:nvSpPr>
        <p:spPr>
          <a:xfrm>
            <a:off x="6281928" y="1426464"/>
            <a:ext cx="2606040" cy="1426464"/>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Analyze facial expressions and movements.</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Look for unnatural changes across frames</a:t>
            </a:r>
            <a:endParaRPr sz="1200">
              <a:solidFill>
                <a:srgbClr val="2C3E50"/>
              </a:solidFill>
              <a:latin typeface="Calibri"/>
              <a:ea typeface="Calibri"/>
              <a:cs typeface="Calibri"/>
              <a:sym typeface="Calibri"/>
            </a:endParaRPr>
          </a:p>
        </p:txBody>
      </p:sp>
      <p:sp>
        <p:nvSpPr>
          <p:cNvPr id="256" name="Google Shape;256;p9"/>
          <p:cNvSpPr/>
          <p:nvPr/>
        </p:nvSpPr>
        <p:spPr>
          <a:xfrm>
            <a:off x="32004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320040" y="3063240"/>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429768" y="30998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Audio Visual Consistency</a:t>
            </a:r>
            <a:endParaRPr b="0" i="0" sz="1200" u="none" cap="none" strike="noStrike">
              <a:solidFill>
                <a:schemeClr val="dk1"/>
              </a:solidFill>
              <a:latin typeface="Calibri"/>
              <a:ea typeface="Calibri"/>
              <a:cs typeface="Calibri"/>
              <a:sym typeface="Calibri"/>
            </a:endParaRPr>
          </a:p>
        </p:txBody>
      </p:sp>
      <p:sp>
        <p:nvSpPr>
          <p:cNvPr id="259" name="Google Shape;259;p9"/>
          <p:cNvSpPr/>
          <p:nvPr/>
        </p:nvSpPr>
        <p:spPr>
          <a:xfrm>
            <a:off x="429768" y="3483864"/>
            <a:ext cx="2606040" cy="1426464"/>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Check if lip movement matches audio.</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Detect mismatch between </a:t>
            </a:r>
            <a:r>
              <a:rPr lang="en-US" sz="1200">
                <a:solidFill>
                  <a:srgbClr val="2C3E50"/>
                </a:solidFill>
                <a:latin typeface="Calibri"/>
                <a:ea typeface="Calibri"/>
                <a:cs typeface="Calibri"/>
                <a:sym typeface="Calibri"/>
              </a:rPr>
              <a:t>speech and audio.</a:t>
            </a:r>
            <a:r>
              <a:rPr lang="en-US" sz="1200">
                <a:solidFill>
                  <a:srgbClr val="2C3E50"/>
                </a:solidFill>
                <a:latin typeface="Calibri"/>
                <a:ea typeface="Calibri"/>
                <a:cs typeface="Calibri"/>
                <a:sym typeface="Calibri"/>
              </a:rPr>
              <a:t> </a:t>
            </a:r>
            <a:endParaRPr sz="1200">
              <a:solidFill>
                <a:srgbClr val="2C3E50"/>
              </a:solidFill>
              <a:latin typeface="Calibri"/>
              <a:ea typeface="Calibri"/>
              <a:cs typeface="Calibri"/>
              <a:sym typeface="Calibri"/>
            </a:endParaRPr>
          </a:p>
        </p:txBody>
      </p:sp>
      <p:sp>
        <p:nvSpPr>
          <p:cNvPr id="260" name="Google Shape;260;p9"/>
          <p:cNvSpPr/>
          <p:nvPr/>
        </p:nvSpPr>
        <p:spPr>
          <a:xfrm>
            <a:off x="324612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355600" lvl="0" marL="342900" rtl="0" algn="l">
              <a:lnSpc>
                <a:spcPct val="115000"/>
              </a:lnSpc>
              <a:spcBef>
                <a:spcPts val="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Each Detect GAN generated artifacts</a:t>
            </a:r>
            <a:endParaRPr sz="1200">
              <a:solidFill>
                <a:srgbClr val="2C3E50"/>
              </a:solidFill>
              <a:latin typeface="Calibri"/>
              <a:ea typeface="Calibri"/>
              <a:cs typeface="Calibri"/>
              <a:sym typeface="Calibri"/>
            </a:endParaRPr>
          </a:p>
          <a:p>
            <a:pPr indent="-355600" lvl="0" marL="342900" rtl="0" algn="l">
              <a:lnSpc>
                <a:spcPct val="115000"/>
              </a:lnSpc>
              <a:spcBef>
                <a:spcPts val="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Identify upsampling patterns</a:t>
            </a:r>
            <a:endParaRPr sz="1200">
              <a:solidFill>
                <a:srgbClr val="2C3E50"/>
              </a:solidFill>
              <a:latin typeface="Calibri"/>
              <a:ea typeface="Calibri"/>
              <a:cs typeface="Calibri"/>
              <a:sym typeface="Calibri"/>
            </a:endParaRPr>
          </a:p>
          <a:p>
            <a:pPr indent="0" lvl="0" marL="457200" rtl="0" algn="l">
              <a:spcBef>
                <a:spcPts val="0"/>
              </a:spcBef>
              <a:spcAft>
                <a:spcPts val="0"/>
              </a:spcAft>
              <a:buNone/>
            </a:pPr>
            <a:r>
              <a:t/>
            </a:r>
            <a:endParaRPr sz="1000">
              <a:solidFill>
                <a:srgbClr val="2C3E50"/>
              </a:solidFill>
              <a:latin typeface="Calibri"/>
              <a:ea typeface="Calibri"/>
              <a:cs typeface="Calibri"/>
              <a:sym typeface="Calibri"/>
            </a:endParaRPr>
          </a:p>
        </p:txBody>
      </p:sp>
      <p:sp>
        <p:nvSpPr>
          <p:cNvPr id="261" name="Google Shape;261;p9"/>
          <p:cNvSpPr/>
          <p:nvPr/>
        </p:nvSpPr>
        <p:spPr>
          <a:xfrm>
            <a:off x="3246120" y="3063240"/>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3355848" y="3099816"/>
            <a:ext cx="260604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GAN Fingerprint (Video)</a:t>
            </a:r>
            <a:endParaRPr b="1" sz="1200">
              <a:solidFill>
                <a:srgbClr val="FFFFFF"/>
              </a:solidFill>
              <a:latin typeface="Calibri"/>
              <a:ea typeface="Calibri"/>
              <a:cs typeface="Calibri"/>
              <a:sym typeface="Calibri"/>
            </a:endParaRPr>
          </a:p>
        </p:txBody>
      </p:sp>
      <p:sp>
        <p:nvSpPr>
          <p:cNvPr id="263" name="Google Shape;263;p9"/>
          <p:cNvSpPr/>
          <p:nvPr/>
        </p:nvSpPr>
        <p:spPr>
          <a:xfrm>
            <a:off x="617220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6172200" y="3063240"/>
            <a:ext cx="2788920" cy="347472"/>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6281928" y="30998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lang="en-US" sz="1200">
                <a:solidFill>
                  <a:srgbClr val="333333"/>
                </a:solidFill>
                <a:latin typeface="Calibri"/>
                <a:ea typeface="Calibri"/>
                <a:cs typeface="Calibri"/>
                <a:sym typeface="Calibri"/>
              </a:rPr>
              <a:t>[1] [2] [4]</a:t>
            </a:r>
            <a:endParaRPr b="0" i="0" sz="1200" u="none" cap="none" strike="noStrike">
              <a:solidFill>
                <a:srgbClr val="333333"/>
              </a:solidFill>
              <a:latin typeface="Calibri"/>
              <a:ea typeface="Calibri"/>
              <a:cs typeface="Calibri"/>
              <a:sym typeface="Calibri"/>
            </a:endParaRPr>
          </a:p>
        </p:txBody>
      </p:sp>
      <p:sp>
        <p:nvSpPr>
          <p:cNvPr id="266" name="Google Shape;266;p9"/>
          <p:cNvSpPr/>
          <p:nvPr/>
        </p:nvSpPr>
        <p:spPr>
          <a:xfrm>
            <a:off x="6281928" y="3483864"/>
            <a:ext cx="2606040" cy="1426464"/>
          </a:xfrm>
          <a:prstGeom prst="rect">
            <a:avLst/>
          </a:prstGeom>
          <a:noFill/>
          <a:ln>
            <a:noFill/>
          </a:ln>
        </p:spPr>
        <p:txBody>
          <a:bodyPr anchorCtr="0" anchor="t" bIns="45700" lIns="91425" spcFirstLastPara="1" rIns="91425" wrap="square" tIns="45700">
            <a:noAutofit/>
          </a:bodyPr>
          <a:lstStyle/>
          <a:p>
            <a:pPr indent="0" lvl="0" marL="0" marR="0" rtl="0" algn="l">
              <a:spcBef>
                <a:spcPts val="300"/>
              </a:spcBef>
              <a:spcAft>
                <a:spcPts val="0"/>
              </a:spcAft>
              <a:buNone/>
            </a:pPr>
            <a:r>
              <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271" name="Shape 271"/>
        <p:cNvGrpSpPr/>
        <p:nvPr/>
      </p:nvGrpSpPr>
      <p:grpSpPr>
        <a:xfrm>
          <a:off x="0" y="0"/>
          <a:ext cx="0" cy="0"/>
          <a:chOff x="0" y="0"/>
          <a:chExt cx="0" cy="0"/>
        </a:xfrm>
      </p:grpSpPr>
      <p:sp>
        <p:nvSpPr>
          <p:cNvPr id="272" name="Google Shape;272;p10"/>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320050" y="182875"/>
            <a:ext cx="8641200" cy="658500"/>
          </a:xfrm>
          <a:prstGeom prst="rect">
            <a:avLst/>
          </a:prstGeom>
          <a:solidFill>
            <a:srgbClr val="5E3A9A"/>
          </a:solidFill>
          <a:ln cap="flat" cmpd="sng" w="12700">
            <a:solidFill>
              <a:srgbClr val="5E3A9A"/>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AUDIO Detection </a:t>
            </a:r>
            <a:r>
              <a:rPr b="1" lang="en-US" sz="2200">
                <a:solidFill>
                  <a:srgbClr val="FFFFFF"/>
                </a:solidFill>
                <a:latin typeface="Calibri"/>
                <a:ea typeface="Calibri"/>
                <a:cs typeface="Calibri"/>
                <a:sym typeface="Calibri"/>
              </a:rPr>
              <a:t>:</a:t>
            </a:r>
            <a:r>
              <a:rPr b="1" i="0" lang="en-US" sz="2200" u="none" cap="none" strike="noStrike">
                <a:solidFill>
                  <a:srgbClr val="FFFFFF"/>
                </a:solidFill>
                <a:latin typeface="Calibri"/>
                <a:ea typeface="Calibri"/>
                <a:cs typeface="Calibri"/>
                <a:sym typeface="Calibri"/>
              </a:rPr>
              <a:t> Techniques &amp; Methods</a:t>
            </a:r>
            <a:endParaRPr b="0" i="0" sz="2200" u="none" cap="none" strike="noStrike">
              <a:solidFill>
                <a:schemeClr val="dk1"/>
              </a:solidFill>
              <a:latin typeface="Calibri"/>
              <a:ea typeface="Calibri"/>
              <a:cs typeface="Calibri"/>
              <a:sym typeface="Calibri"/>
            </a:endParaRPr>
          </a:p>
        </p:txBody>
      </p:sp>
      <p:sp>
        <p:nvSpPr>
          <p:cNvPr id="275" name="Google Shape;275;p10"/>
          <p:cNvSpPr/>
          <p:nvPr/>
        </p:nvSpPr>
        <p:spPr>
          <a:xfrm>
            <a:off x="32004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320040" y="1005840"/>
            <a:ext cx="2788920" cy="3474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p:nvPr/>
        </p:nvSpPr>
        <p:spPr>
          <a:xfrm>
            <a:off x="429768" y="10424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Feature Based Methods</a:t>
            </a:r>
            <a:endParaRPr b="0" i="0" sz="1200" u="none" cap="none" strike="noStrike">
              <a:solidFill>
                <a:schemeClr val="dk1"/>
              </a:solidFill>
              <a:latin typeface="Calibri"/>
              <a:ea typeface="Calibri"/>
              <a:cs typeface="Calibri"/>
              <a:sym typeface="Calibri"/>
            </a:endParaRPr>
          </a:p>
        </p:txBody>
      </p:sp>
      <p:sp>
        <p:nvSpPr>
          <p:cNvPr id="278" name="Google Shape;278;p10"/>
          <p:cNvSpPr/>
          <p:nvPr/>
        </p:nvSpPr>
        <p:spPr>
          <a:xfrm>
            <a:off x="429775" y="1426475"/>
            <a:ext cx="2701500" cy="1426500"/>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Use speech features like frequency and pitch.</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Helps </a:t>
            </a:r>
            <a:r>
              <a:rPr lang="en-US" sz="1200">
                <a:solidFill>
                  <a:srgbClr val="2C3E50"/>
                </a:solidFill>
                <a:latin typeface="Calibri"/>
                <a:ea typeface="Calibri"/>
                <a:cs typeface="Calibri"/>
                <a:sym typeface="Calibri"/>
              </a:rPr>
              <a:t>identity</a:t>
            </a:r>
            <a:r>
              <a:rPr lang="en-US" sz="1200">
                <a:solidFill>
                  <a:srgbClr val="2C3E50"/>
                </a:solidFill>
                <a:latin typeface="Calibri"/>
                <a:ea typeface="Calibri"/>
                <a:cs typeface="Calibri"/>
                <a:sym typeface="Calibri"/>
              </a:rPr>
              <a:t> difference between real and fake audio.</a:t>
            </a:r>
            <a:endParaRPr sz="1200">
              <a:solidFill>
                <a:srgbClr val="2C3E50"/>
              </a:solidFill>
              <a:latin typeface="Calibri"/>
              <a:ea typeface="Calibri"/>
              <a:cs typeface="Calibri"/>
              <a:sym typeface="Calibri"/>
            </a:endParaRPr>
          </a:p>
        </p:txBody>
      </p:sp>
      <p:sp>
        <p:nvSpPr>
          <p:cNvPr id="279" name="Google Shape;279;p10"/>
          <p:cNvSpPr/>
          <p:nvPr/>
        </p:nvSpPr>
        <p:spPr>
          <a:xfrm>
            <a:off x="324612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0"/>
          <p:cNvSpPr/>
          <p:nvPr/>
        </p:nvSpPr>
        <p:spPr>
          <a:xfrm>
            <a:off x="3246120" y="1005840"/>
            <a:ext cx="2788920" cy="3474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3355848" y="1042416"/>
            <a:ext cx="2606040" cy="27432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1200"/>
              <a:buFont typeface="Calibri"/>
              <a:buNone/>
            </a:pPr>
            <a:r>
              <a:rPr b="1" lang="en-US" sz="1200">
                <a:solidFill>
                  <a:schemeClr val="lt1"/>
                </a:solidFill>
                <a:latin typeface="Calibri"/>
                <a:ea typeface="Calibri"/>
                <a:cs typeface="Calibri"/>
                <a:sym typeface="Calibri"/>
              </a:rPr>
              <a:t>Self Supervised (wav2vec/HuBERT)</a:t>
            </a:r>
            <a:endParaRPr b="0" i="0" sz="1200" u="none" cap="none" strike="noStrike">
              <a:solidFill>
                <a:schemeClr val="dk1"/>
              </a:solidFill>
              <a:latin typeface="Calibri"/>
              <a:ea typeface="Calibri"/>
              <a:cs typeface="Calibri"/>
              <a:sym typeface="Calibri"/>
            </a:endParaRPr>
          </a:p>
        </p:txBody>
      </p:sp>
      <p:sp>
        <p:nvSpPr>
          <p:cNvPr id="282" name="Google Shape;282;p10"/>
          <p:cNvSpPr/>
          <p:nvPr/>
        </p:nvSpPr>
        <p:spPr>
          <a:xfrm>
            <a:off x="3355848" y="1426464"/>
            <a:ext cx="2606040" cy="1426464"/>
          </a:xfrm>
          <a:prstGeom prst="rect">
            <a:avLst/>
          </a:prstGeom>
          <a:noFill/>
          <a:ln>
            <a:noFill/>
          </a:ln>
        </p:spPr>
        <p:txBody>
          <a:bodyPr anchorCtr="0" anchor="t" bIns="45700" lIns="91425" spcFirstLastPara="1" rIns="91425" wrap="square" tIns="45700">
            <a:noAutofit/>
          </a:bodyPr>
          <a:lstStyle/>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Pre-Trained on large speech datasets.</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Learn general audio representations,</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Fine tuned for deepfake detection.</a:t>
            </a:r>
            <a:endParaRPr sz="1200">
              <a:solidFill>
                <a:srgbClr val="2C3E50"/>
              </a:solidFill>
              <a:latin typeface="Calibri"/>
              <a:ea typeface="Calibri"/>
              <a:cs typeface="Calibri"/>
              <a:sym typeface="Calibri"/>
            </a:endParaRPr>
          </a:p>
        </p:txBody>
      </p:sp>
      <p:sp>
        <p:nvSpPr>
          <p:cNvPr id="283" name="Google Shape;283;p10"/>
          <p:cNvSpPr/>
          <p:nvPr/>
        </p:nvSpPr>
        <p:spPr>
          <a:xfrm>
            <a:off x="6172200" y="10058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6172200" y="1005840"/>
            <a:ext cx="2788920" cy="3474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6281928" y="10424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Spectrogram Based Methods</a:t>
            </a:r>
            <a:endParaRPr b="0" i="0" sz="1200" u="none" cap="none" strike="noStrike">
              <a:solidFill>
                <a:schemeClr val="dk1"/>
              </a:solidFill>
              <a:latin typeface="Calibri"/>
              <a:ea typeface="Calibri"/>
              <a:cs typeface="Calibri"/>
              <a:sym typeface="Calibri"/>
            </a:endParaRPr>
          </a:p>
        </p:txBody>
      </p:sp>
      <p:sp>
        <p:nvSpPr>
          <p:cNvPr id="286" name="Google Shape;286;p10"/>
          <p:cNvSpPr/>
          <p:nvPr/>
        </p:nvSpPr>
        <p:spPr>
          <a:xfrm>
            <a:off x="6281928" y="1426464"/>
            <a:ext cx="2606040" cy="1426464"/>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Convert audio into visual representation.</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Apply CNN models to detect patterns.</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Captures both time and frequency information.</a:t>
            </a:r>
            <a:endParaRPr sz="1200">
              <a:solidFill>
                <a:srgbClr val="2C3E50"/>
              </a:solidFill>
              <a:latin typeface="Calibri"/>
              <a:ea typeface="Calibri"/>
              <a:cs typeface="Calibri"/>
              <a:sym typeface="Calibri"/>
            </a:endParaRPr>
          </a:p>
        </p:txBody>
      </p:sp>
      <p:sp>
        <p:nvSpPr>
          <p:cNvPr id="287" name="Google Shape;287;p10"/>
          <p:cNvSpPr/>
          <p:nvPr/>
        </p:nvSpPr>
        <p:spPr>
          <a:xfrm>
            <a:off x="32004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a:off x="320040" y="3063240"/>
            <a:ext cx="2788920" cy="3474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429768" y="3099816"/>
            <a:ext cx="2606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Speech Pattern Analysis</a:t>
            </a:r>
            <a:endParaRPr b="0" i="0" sz="1200" u="none" cap="none" strike="noStrike">
              <a:solidFill>
                <a:schemeClr val="dk1"/>
              </a:solidFill>
              <a:latin typeface="Calibri"/>
              <a:ea typeface="Calibri"/>
              <a:cs typeface="Calibri"/>
              <a:sym typeface="Calibri"/>
            </a:endParaRPr>
          </a:p>
        </p:txBody>
      </p:sp>
      <p:sp>
        <p:nvSpPr>
          <p:cNvPr id="290" name="Google Shape;290;p10"/>
          <p:cNvSpPr/>
          <p:nvPr/>
        </p:nvSpPr>
        <p:spPr>
          <a:xfrm>
            <a:off x="429768" y="3483864"/>
            <a:ext cx="2606040" cy="1426464"/>
          </a:xfrm>
          <a:prstGeom prst="rect">
            <a:avLst/>
          </a:prstGeom>
          <a:noFill/>
          <a:ln>
            <a:noFill/>
          </a:ln>
        </p:spPr>
        <p:txBody>
          <a:bodyPr anchorCtr="0" anchor="t" bIns="45700" lIns="91425" spcFirstLastPara="1" rIns="91425" wrap="square" tIns="45700">
            <a:noAutofit/>
          </a:bodyPr>
          <a:lstStyle/>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Analyze rhythm, tone and speaking style.</a:t>
            </a:r>
            <a:endParaRPr sz="1200">
              <a:solidFill>
                <a:srgbClr val="2C3E50"/>
              </a:solidFill>
              <a:latin typeface="Calibri"/>
              <a:ea typeface="Calibri"/>
              <a:cs typeface="Calibri"/>
              <a:sym typeface="Calibri"/>
            </a:endParaRPr>
          </a:p>
          <a:p>
            <a:pPr indent="-355600" lvl="0" marL="342900" marR="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Detect unnatural variations in speech.</a:t>
            </a:r>
            <a:endParaRPr sz="1200">
              <a:solidFill>
                <a:srgbClr val="2C3E50"/>
              </a:solidFill>
              <a:latin typeface="Calibri"/>
              <a:ea typeface="Calibri"/>
              <a:cs typeface="Calibri"/>
              <a:sym typeface="Calibri"/>
            </a:endParaRPr>
          </a:p>
        </p:txBody>
      </p:sp>
      <p:sp>
        <p:nvSpPr>
          <p:cNvPr id="291" name="Google Shape;291;p10"/>
          <p:cNvSpPr/>
          <p:nvPr/>
        </p:nvSpPr>
        <p:spPr>
          <a:xfrm>
            <a:off x="3246120" y="3063240"/>
            <a:ext cx="2788920" cy="1920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0"/>
          <p:cNvSpPr/>
          <p:nvPr/>
        </p:nvSpPr>
        <p:spPr>
          <a:xfrm>
            <a:off x="3246120" y="3063240"/>
            <a:ext cx="2788920" cy="347472"/>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3337561" y="3067816"/>
            <a:ext cx="2606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 Style Linguistic Mismatch</a:t>
            </a:r>
            <a:endParaRPr b="0" i="0" sz="1200" u="none" cap="none" strike="noStrike">
              <a:solidFill>
                <a:schemeClr val="dk1"/>
              </a:solidFill>
              <a:latin typeface="Calibri"/>
              <a:ea typeface="Calibri"/>
              <a:cs typeface="Calibri"/>
              <a:sym typeface="Calibri"/>
            </a:endParaRPr>
          </a:p>
        </p:txBody>
      </p:sp>
      <p:sp>
        <p:nvSpPr>
          <p:cNvPr id="294" name="Google Shape;294;p10"/>
          <p:cNvSpPr/>
          <p:nvPr/>
        </p:nvSpPr>
        <p:spPr>
          <a:xfrm>
            <a:off x="3355848" y="3483864"/>
            <a:ext cx="2606040" cy="1426464"/>
          </a:xfrm>
          <a:prstGeom prst="rect">
            <a:avLst/>
          </a:prstGeom>
          <a:noFill/>
          <a:ln>
            <a:noFill/>
          </a:ln>
        </p:spPr>
        <p:txBody>
          <a:bodyPr anchorCtr="0" anchor="t" bIns="45700" lIns="91425" spcFirstLastPara="1" rIns="91425" wrap="square" tIns="45700">
            <a:noAutofit/>
          </a:bodyPr>
          <a:lstStyle/>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Detect mismatch between style and content.</a:t>
            </a:r>
            <a:endParaRPr sz="1200">
              <a:solidFill>
                <a:srgbClr val="2C3E50"/>
              </a:solidFill>
              <a:latin typeface="Calibri"/>
              <a:ea typeface="Calibri"/>
              <a:cs typeface="Calibri"/>
              <a:sym typeface="Calibri"/>
            </a:endParaRPr>
          </a:p>
          <a:p>
            <a:pPr indent="-304800" lvl="0" marL="457200" rtl="0" algn="l">
              <a:spcBef>
                <a:spcPts val="300"/>
              </a:spcBef>
              <a:spcAft>
                <a:spcPts val="0"/>
              </a:spcAft>
              <a:buClr>
                <a:srgbClr val="2C3E50"/>
              </a:buClr>
              <a:buSzPts val="1200"/>
              <a:buFont typeface="Calibri"/>
              <a:buChar char="•"/>
            </a:pPr>
            <a:r>
              <a:rPr lang="en-US" sz="1200">
                <a:solidFill>
                  <a:srgbClr val="2C3E50"/>
                </a:solidFill>
                <a:latin typeface="Calibri"/>
                <a:ea typeface="Calibri"/>
                <a:cs typeface="Calibri"/>
                <a:sym typeface="Calibri"/>
              </a:rPr>
              <a:t>Real speech-&gt; consistent,  fake-&gt; inconsistent.</a:t>
            </a:r>
            <a:endParaRPr sz="1200">
              <a:solidFill>
                <a:srgbClr val="2C3E50"/>
              </a:solidFill>
              <a:latin typeface="Calibri"/>
              <a:ea typeface="Calibri"/>
              <a:cs typeface="Calibri"/>
              <a:sym typeface="Calibri"/>
            </a:endParaRPr>
          </a:p>
          <a:p>
            <a:pPr indent="0" lvl="0" marL="457200" marR="0" rtl="0" algn="l">
              <a:spcBef>
                <a:spcPts val="300"/>
              </a:spcBef>
              <a:spcAft>
                <a:spcPts val="0"/>
              </a:spcAft>
              <a:buNone/>
            </a:pPr>
            <a:r>
              <a:t/>
            </a:r>
            <a:endParaRPr sz="1200">
              <a:solidFill>
                <a:srgbClr val="2C3E50"/>
              </a:solidFill>
              <a:latin typeface="Calibri"/>
              <a:ea typeface="Calibri"/>
              <a:cs typeface="Calibri"/>
              <a:sym typeface="Calibri"/>
            </a:endParaRPr>
          </a:p>
        </p:txBody>
      </p:sp>
      <p:sp>
        <p:nvSpPr>
          <p:cNvPr id="295" name="Google Shape;295;p10"/>
          <p:cNvSpPr/>
          <p:nvPr/>
        </p:nvSpPr>
        <p:spPr>
          <a:xfrm>
            <a:off x="6208778" y="3483864"/>
            <a:ext cx="2606100" cy="1426500"/>
          </a:xfrm>
          <a:prstGeom prst="rect">
            <a:avLst/>
          </a:prstGeom>
          <a:noFill/>
          <a:ln>
            <a:noFill/>
          </a:ln>
        </p:spPr>
        <p:txBody>
          <a:bodyPr anchorCtr="0" anchor="t" bIns="45700" lIns="91425" spcFirstLastPara="1" rIns="91425" wrap="square" tIns="45700">
            <a:noAutofit/>
          </a:bodyPr>
          <a:lstStyle/>
          <a:p>
            <a:pPr indent="0" lvl="0" marL="0" marR="0" rtl="0" algn="l">
              <a:spcBef>
                <a:spcPts val="300"/>
              </a:spcBef>
              <a:spcAft>
                <a:spcPts val="0"/>
              </a:spcAft>
              <a:buNone/>
            </a:pPr>
            <a:r>
              <a:t/>
            </a:r>
            <a:endParaRPr b="0" i="0" sz="1000" u="none" cap="none" strike="noStrike">
              <a:solidFill>
                <a:schemeClr val="dk1"/>
              </a:solidFill>
              <a:latin typeface="Calibri"/>
              <a:ea typeface="Calibri"/>
              <a:cs typeface="Calibri"/>
              <a:sym typeface="Calibri"/>
            </a:endParaRPr>
          </a:p>
        </p:txBody>
      </p:sp>
      <p:sp>
        <p:nvSpPr>
          <p:cNvPr id="296" name="Google Shape;296;p10"/>
          <p:cNvSpPr/>
          <p:nvPr/>
        </p:nvSpPr>
        <p:spPr>
          <a:xfrm>
            <a:off x="6172220" y="3090665"/>
            <a:ext cx="2788800" cy="19203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6172220" y="3090665"/>
            <a:ext cx="2788800" cy="347400"/>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0"/>
          <p:cNvSpPr/>
          <p:nvPr/>
        </p:nvSpPr>
        <p:spPr>
          <a:xfrm>
            <a:off x="6281948" y="3127241"/>
            <a:ext cx="26061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t/>
            </a:r>
            <a:endParaRPr b="0" i="0" sz="1200" u="none" cap="none" strike="noStrike">
              <a:solidFill>
                <a:schemeClr val="dk1"/>
              </a:solidFill>
              <a:latin typeface="Calibri"/>
              <a:ea typeface="Calibri"/>
              <a:cs typeface="Calibri"/>
              <a:sym typeface="Calibri"/>
            </a:endParaRPr>
          </a:p>
        </p:txBody>
      </p:sp>
      <p:sp>
        <p:nvSpPr>
          <p:cNvPr id="299" name="Google Shape;299;p10"/>
          <p:cNvSpPr/>
          <p:nvPr/>
        </p:nvSpPr>
        <p:spPr>
          <a:xfrm>
            <a:off x="6281948" y="3511289"/>
            <a:ext cx="2606100" cy="1426500"/>
          </a:xfrm>
          <a:prstGeom prst="rect">
            <a:avLst/>
          </a:prstGeom>
          <a:noFill/>
          <a:ln>
            <a:noFill/>
          </a:ln>
        </p:spPr>
        <p:txBody>
          <a:bodyPr anchorCtr="0" anchor="t" bIns="45700" lIns="91425" spcFirstLastPara="1" rIns="91425" wrap="square" tIns="45700">
            <a:noAutofit/>
          </a:bodyPr>
          <a:lstStyle/>
          <a:p>
            <a:pPr indent="0" lvl="0" marL="0" rtl="0" algn="l">
              <a:spcBef>
                <a:spcPts val="300"/>
              </a:spcBef>
              <a:spcAft>
                <a:spcPts val="0"/>
              </a:spcAft>
              <a:buNone/>
            </a:pPr>
            <a:r>
              <a:t/>
            </a:r>
            <a:endParaRPr sz="1200">
              <a:solidFill>
                <a:srgbClr val="2C3E5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304" name="Shape 304"/>
        <p:cNvGrpSpPr/>
        <p:nvPr/>
      </p:nvGrpSpPr>
      <p:grpSpPr>
        <a:xfrm>
          <a:off x="0" y="0"/>
          <a:ext cx="0" cy="0"/>
          <a:chOff x="0" y="0"/>
          <a:chExt cx="0" cy="0"/>
        </a:xfrm>
      </p:grpSpPr>
      <p:sp>
        <p:nvSpPr>
          <p:cNvPr id="305" name="Google Shape;305;p11"/>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457200" y="210312"/>
            <a:ext cx="8229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Commonly Used Tools &amp; Frameworks </a:t>
            </a:r>
            <a:endParaRPr b="0" i="0" sz="2200" u="none" cap="none" strike="noStrike">
              <a:solidFill>
                <a:schemeClr val="dk1"/>
              </a:solidFill>
              <a:latin typeface="Calibri"/>
              <a:ea typeface="Calibri"/>
              <a:cs typeface="Calibri"/>
              <a:sym typeface="Calibri"/>
            </a:endParaRPr>
          </a:p>
        </p:txBody>
      </p:sp>
      <p:sp>
        <p:nvSpPr>
          <p:cNvPr id="308" name="Google Shape;308;p11"/>
          <p:cNvSpPr/>
          <p:nvPr/>
        </p:nvSpPr>
        <p:spPr>
          <a:xfrm>
            <a:off x="320040" y="987552"/>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320040" y="987552"/>
            <a:ext cx="109728" cy="77724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521208" y="1042416"/>
            <a:ext cx="594360" cy="201168"/>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1"/>
          <p:cNvSpPr/>
          <p:nvPr/>
        </p:nvSpPr>
        <p:spPr>
          <a:xfrm>
            <a:off x="521208" y="1042416"/>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IMAGE</a:t>
            </a:r>
            <a:endParaRPr b="0" i="0" sz="750" u="none" cap="none" strike="noStrike">
              <a:solidFill>
                <a:schemeClr val="dk1"/>
              </a:solidFill>
              <a:latin typeface="Calibri"/>
              <a:ea typeface="Calibri"/>
              <a:cs typeface="Calibri"/>
              <a:sym typeface="Calibri"/>
            </a:endParaRPr>
          </a:p>
        </p:txBody>
      </p:sp>
      <p:sp>
        <p:nvSpPr>
          <p:cNvPr id="312" name="Google Shape;312;p11"/>
          <p:cNvSpPr/>
          <p:nvPr/>
        </p:nvSpPr>
        <p:spPr>
          <a:xfrm>
            <a:off x="1188720" y="1042416"/>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timm (PyTorch Image Models)</a:t>
            </a:r>
            <a:endParaRPr b="0" i="0" sz="1050" u="none" cap="none" strike="noStrike">
              <a:solidFill>
                <a:schemeClr val="dk1"/>
              </a:solidFill>
              <a:latin typeface="Calibri"/>
              <a:ea typeface="Calibri"/>
              <a:cs typeface="Calibri"/>
              <a:sym typeface="Calibri"/>
            </a:endParaRPr>
          </a:p>
        </p:txBody>
      </p:sp>
      <p:sp>
        <p:nvSpPr>
          <p:cNvPr id="313" name="Google Shape;313;p11"/>
          <p:cNvSpPr/>
          <p:nvPr/>
        </p:nvSpPr>
        <p:spPr>
          <a:xfrm>
            <a:off x="521208" y="1335024"/>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Pretrained XceptionNet, EfficientNet, DeiT, ViT, Swin Transformer in one library</a:t>
            </a:r>
            <a:endParaRPr b="0" i="0" sz="900" u="none" cap="none" strike="noStrike">
              <a:solidFill>
                <a:schemeClr val="dk1"/>
              </a:solidFill>
              <a:latin typeface="Calibri"/>
              <a:ea typeface="Calibri"/>
              <a:cs typeface="Calibri"/>
              <a:sym typeface="Calibri"/>
            </a:endParaRPr>
          </a:p>
        </p:txBody>
      </p:sp>
      <p:sp>
        <p:nvSpPr>
          <p:cNvPr id="314" name="Google Shape;314;p11"/>
          <p:cNvSpPr/>
          <p:nvPr/>
        </p:nvSpPr>
        <p:spPr>
          <a:xfrm>
            <a:off x="4709160" y="987552"/>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4709160" y="987552"/>
            <a:ext cx="109728" cy="77724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4910328" y="1042416"/>
            <a:ext cx="594360" cy="201168"/>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
          <p:cNvSpPr/>
          <p:nvPr/>
        </p:nvSpPr>
        <p:spPr>
          <a:xfrm>
            <a:off x="4910328" y="1042416"/>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IMAGE</a:t>
            </a:r>
            <a:endParaRPr b="0" i="0" sz="750" u="none" cap="none" strike="noStrike">
              <a:solidFill>
                <a:schemeClr val="dk1"/>
              </a:solidFill>
              <a:latin typeface="Calibri"/>
              <a:ea typeface="Calibri"/>
              <a:cs typeface="Calibri"/>
              <a:sym typeface="Calibri"/>
            </a:endParaRPr>
          </a:p>
        </p:txBody>
      </p:sp>
      <p:sp>
        <p:nvSpPr>
          <p:cNvPr id="318" name="Google Shape;318;p11"/>
          <p:cNvSpPr/>
          <p:nvPr/>
        </p:nvSpPr>
        <p:spPr>
          <a:xfrm>
            <a:off x="5577840" y="1042416"/>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InsightFace / MTCNN / RetinaFace</a:t>
            </a:r>
            <a:endParaRPr b="0" i="0" sz="1050" u="none" cap="none" strike="noStrike">
              <a:solidFill>
                <a:schemeClr val="dk1"/>
              </a:solidFill>
              <a:latin typeface="Calibri"/>
              <a:ea typeface="Calibri"/>
              <a:cs typeface="Calibri"/>
              <a:sym typeface="Calibri"/>
            </a:endParaRPr>
          </a:p>
        </p:txBody>
      </p:sp>
      <p:sp>
        <p:nvSpPr>
          <p:cNvPr id="319" name="Google Shape;319;p11"/>
          <p:cNvSpPr/>
          <p:nvPr/>
        </p:nvSpPr>
        <p:spPr>
          <a:xfrm>
            <a:off x="4910328" y="1335024"/>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Face detection, 5-landmark alignment, 1.3x crop — critical +17% accuracy boost</a:t>
            </a:r>
            <a:endParaRPr b="0" i="0" sz="900" u="none" cap="none" strike="noStrike">
              <a:solidFill>
                <a:schemeClr val="dk1"/>
              </a:solidFill>
              <a:latin typeface="Calibri"/>
              <a:ea typeface="Calibri"/>
              <a:cs typeface="Calibri"/>
              <a:sym typeface="Calibri"/>
            </a:endParaRPr>
          </a:p>
        </p:txBody>
      </p:sp>
      <p:sp>
        <p:nvSpPr>
          <p:cNvPr id="320" name="Google Shape;320;p11"/>
          <p:cNvSpPr/>
          <p:nvPr/>
        </p:nvSpPr>
        <p:spPr>
          <a:xfrm>
            <a:off x="320040" y="1847088"/>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1"/>
          <p:cNvSpPr/>
          <p:nvPr/>
        </p:nvSpPr>
        <p:spPr>
          <a:xfrm>
            <a:off x="320040" y="1847088"/>
            <a:ext cx="109728" cy="77724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521208" y="1901952"/>
            <a:ext cx="594360" cy="201168"/>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521208" y="1901952"/>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IMAGE</a:t>
            </a:r>
            <a:endParaRPr b="0" i="0" sz="750" u="none" cap="none" strike="noStrike">
              <a:solidFill>
                <a:schemeClr val="dk1"/>
              </a:solidFill>
              <a:latin typeface="Calibri"/>
              <a:ea typeface="Calibri"/>
              <a:cs typeface="Calibri"/>
              <a:sym typeface="Calibri"/>
            </a:endParaRPr>
          </a:p>
        </p:txBody>
      </p:sp>
      <p:sp>
        <p:nvSpPr>
          <p:cNvPr id="324" name="Google Shape;324;p11"/>
          <p:cNvSpPr/>
          <p:nvPr/>
        </p:nvSpPr>
        <p:spPr>
          <a:xfrm>
            <a:off x="1188720" y="1901952"/>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PyWavelets + torch.fft</a:t>
            </a:r>
            <a:endParaRPr b="0" i="0" sz="1050" u="none" cap="none" strike="noStrike">
              <a:solidFill>
                <a:schemeClr val="dk1"/>
              </a:solidFill>
              <a:latin typeface="Calibri"/>
              <a:ea typeface="Calibri"/>
              <a:cs typeface="Calibri"/>
              <a:sym typeface="Calibri"/>
            </a:endParaRPr>
          </a:p>
        </p:txBody>
      </p:sp>
      <p:sp>
        <p:nvSpPr>
          <p:cNvPr id="325" name="Google Shape;325;p11"/>
          <p:cNvSpPr/>
          <p:nvPr/>
        </p:nvSpPr>
        <p:spPr>
          <a:xfrm>
            <a:off x="521208" y="2194560"/>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Haar DWT for frequency branch; FFT for GAN fingerprint detection</a:t>
            </a:r>
            <a:endParaRPr b="0" i="0" sz="900" u="none" cap="none" strike="noStrike">
              <a:solidFill>
                <a:schemeClr val="dk1"/>
              </a:solidFill>
              <a:latin typeface="Calibri"/>
              <a:ea typeface="Calibri"/>
              <a:cs typeface="Calibri"/>
              <a:sym typeface="Calibri"/>
            </a:endParaRPr>
          </a:p>
        </p:txBody>
      </p:sp>
      <p:sp>
        <p:nvSpPr>
          <p:cNvPr id="326" name="Google Shape;326;p11"/>
          <p:cNvSpPr/>
          <p:nvPr/>
        </p:nvSpPr>
        <p:spPr>
          <a:xfrm>
            <a:off x="4709160" y="1847088"/>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1"/>
          <p:cNvSpPr/>
          <p:nvPr/>
        </p:nvSpPr>
        <p:spPr>
          <a:xfrm>
            <a:off x="4709160" y="1847088"/>
            <a:ext cx="109728" cy="777240"/>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4910328" y="1901952"/>
            <a:ext cx="594360" cy="201168"/>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a:off x="4910328" y="1901952"/>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VIDEO</a:t>
            </a:r>
            <a:endParaRPr b="0" i="0" sz="750" u="none" cap="none" strike="noStrike">
              <a:solidFill>
                <a:schemeClr val="dk1"/>
              </a:solidFill>
              <a:latin typeface="Calibri"/>
              <a:ea typeface="Calibri"/>
              <a:cs typeface="Calibri"/>
              <a:sym typeface="Calibri"/>
            </a:endParaRPr>
          </a:p>
        </p:txBody>
      </p:sp>
      <p:sp>
        <p:nvSpPr>
          <p:cNvPr id="330" name="Google Shape;330;p11"/>
          <p:cNvSpPr/>
          <p:nvPr/>
        </p:nvSpPr>
        <p:spPr>
          <a:xfrm>
            <a:off x="5577840" y="1901952"/>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OpenCV + dlib / InsightFace (video)</a:t>
            </a:r>
            <a:endParaRPr b="0" i="0" sz="1050" u="none" cap="none" strike="noStrike">
              <a:solidFill>
                <a:schemeClr val="dk1"/>
              </a:solidFill>
              <a:latin typeface="Calibri"/>
              <a:ea typeface="Calibri"/>
              <a:cs typeface="Calibri"/>
              <a:sym typeface="Calibri"/>
            </a:endParaRPr>
          </a:p>
        </p:txBody>
      </p:sp>
      <p:sp>
        <p:nvSpPr>
          <p:cNvPr id="331" name="Google Shape;331;p11"/>
          <p:cNvSpPr/>
          <p:nvPr/>
        </p:nvSpPr>
        <p:spPr>
          <a:xfrm>
            <a:off x="4910328" y="2194560"/>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Per-frame face tracking, alignment, and extraction from video streams</a:t>
            </a:r>
            <a:endParaRPr b="0" i="0" sz="900" u="none" cap="none" strike="noStrike">
              <a:solidFill>
                <a:schemeClr val="dk1"/>
              </a:solidFill>
              <a:latin typeface="Calibri"/>
              <a:ea typeface="Calibri"/>
              <a:cs typeface="Calibri"/>
              <a:sym typeface="Calibri"/>
            </a:endParaRPr>
          </a:p>
        </p:txBody>
      </p:sp>
      <p:sp>
        <p:nvSpPr>
          <p:cNvPr id="332" name="Google Shape;332;p11"/>
          <p:cNvSpPr/>
          <p:nvPr/>
        </p:nvSpPr>
        <p:spPr>
          <a:xfrm>
            <a:off x="320040" y="2706624"/>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1"/>
          <p:cNvSpPr/>
          <p:nvPr/>
        </p:nvSpPr>
        <p:spPr>
          <a:xfrm>
            <a:off x="320040" y="2706624"/>
            <a:ext cx="109728" cy="777240"/>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521208" y="2761488"/>
            <a:ext cx="594360" cy="201168"/>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1"/>
          <p:cNvSpPr/>
          <p:nvPr/>
        </p:nvSpPr>
        <p:spPr>
          <a:xfrm>
            <a:off x="521208" y="2761488"/>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VIDEO</a:t>
            </a:r>
            <a:endParaRPr b="0" i="0" sz="750" u="none" cap="none" strike="noStrike">
              <a:solidFill>
                <a:schemeClr val="dk1"/>
              </a:solidFill>
              <a:latin typeface="Calibri"/>
              <a:ea typeface="Calibri"/>
              <a:cs typeface="Calibri"/>
              <a:sym typeface="Calibri"/>
            </a:endParaRPr>
          </a:p>
        </p:txBody>
      </p:sp>
      <p:sp>
        <p:nvSpPr>
          <p:cNvPr id="336" name="Google Shape;336;p11"/>
          <p:cNvSpPr/>
          <p:nvPr/>
        </p:nvSpPr>
        <p:spPr>
          <a:xfrm>
            <a:off x="1188720" y="2761488"/>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PyTorch LSTM / Temporal Transformer</a:t>
            </a:r>
            <a:endParaRPr b="0" i="0" sz="1050" u="none" cap="none" strike="noStrike">
              <a:solidFill>
                <a:schemeClr val="dk1"/>
              </a:solidFill>
              <a:latin typeface="Calibri"/>
              <a:ea typeface="Calibri"/>
              <a:cs typeface="Calibri"/>
              <a:sym typeface="Calibri"/>
            </a:endParaRPr>
          </a:p>
        </p:txBody>
      </p:sp>
      <p:sp>
        <p:nvSpPr>
          <p:cNvPr id="337" name="Google Shape;337;p11"/>
          <p:cNvSpPr/>
          <p:nvPr/>
        </p:nvSpPr>
        <p:spPr>
          <a:xfrm>
            <a:off x="521208" y="3054096"/>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Sequence modelling across frames for temporal consistency analysis</a:t>
            </a:r>
            <a:endParaRPr b="0" i="0" sz="900" u="none" cap="none" strike="noStrike">
              <a:solidFill>
                <a:schemeClr val="dk1"/>
              </a:solidFill>
              <a:latin typeface="Calibri"/>
              <a:ea typeface="Calibri"/>
              <a:cs typeface="Calibri"/>
              <a:sym typeface="Calibri"/>
            </a:endParaRPr>
          </a:p>
        </p:txBody>
      </p:sp>
      <p:sp>
        <p:nvSpPr>
          <p:cNvPr id="338" name="Google Shape;338;p11"/>
          <p:cNvSpPr/>
          <p:nvPr/>
        </p:nvSpPr>
        <p:spPr>
          <a:xfrm>
            <a:off x="4709160" y="2706624"/>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4709160" y="2706624"/>
            <a:ext cx="109728" cy="777240"/>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4910328" y="2761488"/>
            <a:ext cx="594360" cy="201168"/>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4910328" y="2761488"/>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VIDEO</a:t>
            </a:r>
            <a:endParaRPr b="0" i="0" sz="750" u="none" cap="none" strike="noStrike">
              <a:solidFill>
                <a:schemeClr val="dk1"/>
              </a:solidFill>
              <a:latin typeface="Calibri"/>
              <a:ea typeface="Calibri"/>
              <a:cs typeface="Calibri"/>
              <a:sym typeface="Calibri"/>
            </a:endParaRPr>
          </a:p>
        </p:txBody>
      </p:sp>
      <p:sp>
        <p:nvSpPr>
          <p:cNvPr id="342" name="Google Shape;342;p11"/>
          <p:cNvSpPr/>
          <p:nvPr/>
        </p:nvSpPr>
        <p:spPr>
          <a:xfrm>
            <a:off x="5577840" y="2761488"/>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FaceForensics++</a:t>
            </a:r>
            <a:r>
              <a:rPr b="1" i="0" lang="en-US" sz="1050" u="none" cap="none" strike="noStrike">
                <a:solidFill>
                  <a:srgbClr val="2C3E50"/>
                </a:solidFill>
                <a:latin typeface="Calibri"/>
                <a:ea typeface="Calibri"/>
                <a:cs typeface="Calibri"/>
                <a:sym typeface="Calibri"/>
              </a:rPr>
              <a:t> Codebase</a:t>
            </a:r>
            <a:endParaRPr b="0" i="0" sz="1050" u="none" cap="none" strike="noStrike">
              <a:solidFill>
                <a:schemeClr val="dk1"/>
              </a:solidFill>
              <a:latin typeface="Calibri"/>
              <a:ea typeface="Calibri"/>
              <a:cs typeface="Calibri"/>
              <a:sym typeface="Calibri"/>
            </a:endParaRPr>
          </a:p>
        </p:txBody>
      </p:sp>
      <p:sp>
        <p:nvSpPr>
          <p:cNvPr id="343" name="Google Shape;343;p11"/>
          <p:cNvSpPr/>
          <p:nvPr/>
        </p:nvSpPr>
        <p:spPr>
          <a:xfrm>
            <a:off x="4910328" y="3054096"/>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Official preprocessing scripts: face extraction, landmark detection, compression simulation</a:t>
            </a:r>
            <a:endParaRPr b="0" i="0" sz="900" u="none" cap="none" strike="noStrike">
              <a:solidFill>
                <a:schemeClr val="dk1"/>
              </a:solidFill>
              <a:latin typeface="Calibri"/>
              <a:ea typeface="Calibri"/>
              <a:cs typeface="Calibri"/>
              <a:sym typeface="Calibri"/>
            </a:endParaRPr>
          </a:p>
        </p:txBody>
      </p:sp>
      <p:sp>
        <p:nvSpPr>
          <p:cNvPr id="344" name="Google Shape;344;p11"/>
          <p:cNvSpPr/>
          <p:nvPr/>
        </p:nvSpPr>
        <p:spPr>
          <a:xfrm>
            <a:off x="320040" y="3566160"/>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320040" y="3566160"/>
            <a:ext cx="109728" cy="777240"/>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521208" y="3621024"/>
            <a:ext cx="594360" cy="201168"/>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p:nvPr/>
        </p:nvSpPr>
        <p:spPr>
          <a:xfrm>
            <a:off x="521208" y="3621024"/>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AUDIO</a:t>
            </a:r>
            <a:endParaRPr b="0" i="0" sz="750" u="none" cap="none" strike="noStrike">
              <a:solidFill>
                <a:schemeClr val="dk1"/>
              </a:solidFill>
              <a:latin typeface="Calibri"/>
              <a:ea typeface="Calibri"/>
              <a:cs typeface="Calibri"/>
              <a:sym typeface="Calibri"/>
            </a:endParaRPr>
          </a:p>
        </p:txBody>
      </p:sp>
      <p:sp>
        <p:nvSpPr>
          <p:cNvPr id="348" name="Google Shape;348;p11"/>
          <p:cNvSpPr/>
          <p:nvPr/>
        </p:nvSpPr>
        <p:spPr>
          <a:xfrm>
            <a:off x="1188720" y="3621024"/>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librosa / torchaudio</a:t>
            </a:r>
            <a:endParaRPr b="0" i="0" sz="1050" u="none" cap="none" strike="noStrike">
              <a:solidFill>
                <a:schemeClr val="dk1"/>
              </a:solidFill>
              <a:latin typeface="Calibri"/>
              <a:ea typeface="Calibri"/>
              <a:cs typeface="Calibri"/>
              <a:sym typeface="Calibri"/>
            </a:endParaRPr>
          </a:p>
        </p:txBody>
      </p:sp>
      <p:sp>
        <p:nvSpPr>
          <p:cNvPr id="349" name="Google Shape;349;p11"/>
          <p:cNvSpPr/>
          <p:nvPr/>
        </p:nvSpPr>
        <p:spPr>
          <a:xfrm>
            <a:off x="521208" y="3913632"/>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Audio loading, MFCC/LFCC/CQCC feature extraction, spectrogram generation</a:t>
            </a:r>
            <a:endParaRPr b="0" i="0" sz="900" u="none" cap="none" strike="noStrike">
              <a:solidFill>
                <a:schemeClr val="dk1"/>
              </a:solidFill>
              <a:latin typeface="Calibri"/>
              <a:ea typeface="Calibri"/>
              <a:cs typeface="Calibri"/>
              <a:sym typeface="Calibri"/>
            </a:endParaRPr>
          </a:p>
        </p:txBody>
      </p:sp>
      <p:sp>
        <p:nvSpPr>
          <p:cNvPr id="350" name="Google Shape;350;p11"/>
          <p:cNvSpPr/>
          <p:nvPr/>
        </p:nvSpPr>
        <p:spPr>
          <a:xfrm>
            <a:off x="4709160" y="3566160"/>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1"/>
          <p:cNvSpPr/>
          <p:nvPr/>
        </p:nvSpPr>
        <p:spPr>
          <a:xfrm>
            <a:off x="4709160" y="3566160"/>
            <a:ext cx="109728" cy="777240"/>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4910328" y="3621024"/>
            <a:ext cx="594360" cy="201168"/>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p:nvPr/>
        </p:nvSpPr>
        <p:spPr>
          <a:xfrm>
            <a:off x="4910328" y="3621024"/>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AUDIO</a:t>
            </a:r>
            <a:endParaRPr b="0" i="0" sz="750" u="none" cap="none" strike="noStrike">
              <a:solidFill>
                <a:schemeClr val="dk1"/>
              </a:solidFill>
              <a:latin typeface="Calibri"/>
              <a:ea typeface="Calibri"/>
              <a:cs typeface="Calibri"/>
              <a:sym typeface="Calibri"/>
            </a:endParaRPr>
          </a:p>
        </p:txBody>
      </p:sp>
      <p:sp>
        <p:nvSpPr>
          <p:cNvPr id="354" name="Google Shape;354;p11"/>
          <p:cNvSpPr/>
          <p:nvPr/>
        </p:nvSpPr>
        <p:spPr>
          <a:xfrm>
            <a:off x="5577840" y="3621024"/>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HuBERT / wav2vec 2.0</a:t>
            </a:r>
            <a:endParaRPr b="0" i="0" sz="1050" u="none" cap="none" strike="noStrike">
              <a:solidFill>
                <a:schemeClr val="dk1"/>
              </a:solidFill>
              <a:latin typeface="Calibri"/>
              <a:ea typeface="Calibri"/>
              <a:cs typeface="Calibri"/>
              <a:sym typeface="Calibri"/>
            </a:endParaRPr>
          </a:p>
        </p:txBody>
      </p:sp>
      <p:sp>
        <p:nvSpPr>
          <p:cNvPr id="355" name="Google Shape;355;p11"/>
          <p:cNvSpPr/>
          <p:nvPr/>
        </p:nvSpPr>
        <p:spPr>
          <a:xfrm>
            <a:off x="4910328" y="3913632"/>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Foundation models for self-supervised audio representation learning and anti-spoofing</a:t>
            </a:r>
            <a:endParaRPr b="0" i="0" sz="900" u="none" cap="none" strike="noStrike">
              <a:solidFill>
                <a:schemeClr val="dk1"/>
              </a:solidFill>
              <a:latin typeface="Calibri"/>
              <a:ea typeface="Calibri"/>
              <a:cs typeface="Calibri"/>
              <a:sym typeface="Calibri"/>
            </a:endParaRPr>
          </a:p>
        </p:txBody>
      </p:sp>
      <p:sp>
        <p:nvSpPr>
          <p:cNvPr id="356" name="Google Shape;356;p11"/>
          <p:cNvSpPr/>
          <p:nvPr/>
        </p:nvSpPr>
        <p:spPr>
          <a:xfrm>
            <a:off x="320040" y="4425696"/>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p:nvPr/>
        </p:nvSpPr>
        <p:spPr>
          <a:xfrm>
            <a:off x="320040" y="4425696"/>
            <a:ext cx="109800" cy="777300"/>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521208" y="4480560"/>
            <a:ext cx="594360" cy="201168"/>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1"/>
          <p:cNvSpPr/>
          <p:nvPr/>
        </p:nvSpPr>
        <p:spPr>
          <a:xfrm>
            <a:off x="521208" y="4480560"/>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ALL</a:t>
            </a:r>
            <a:endParaRPr b="0" i="0" sz="750" u="none" cap="none" strike="noStrike">
              <a:solidFill>
                <a:schemeClr val="dk1"/>
              </a:solidFill>
              <a:latin typeface="Calibri"/>
              <a:ea typeface="Calibri"/>
              <a:cs typeface="Calibri"/>
              <a:sym typeface="Calibri"/>
            </a:endParaRPr>
          </a:p>
        </p:txBody>
      </p:sp>
      <p:sp>
        <p:nvSpPr>
          <p:cNvPr id="360" name="Google Shape;360;p11"/>
          <p:cNvSpPr/>
          <p:nvPr/>
        </p:nvSpPr>
        <p:spPr>
          <a:xfrm>
            <a:off x="1188720" y="4480560"/>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i="0" lang="en-US" sz="1050" u="none" cap="none" strike="noStrike">
                <a:solidFill>
                  <a:srgbClr val="2C3E50"/>
                </a:solidFill>
                <a:latin typeface="Calibri"/>
                <a:ea typeface="Calibri"/>
                <a:cs typeface="Calibri"/>
                <a:sym typeface="Calibri"/>
              </a:rPr>
              <a:t>albumentations / audiomentations</a:t>
            </a:r>
            <a:endParaRPr b="0" i="0" sz="1050" u="none" cap="none" strike="noStrike">
              <a:solidFill>
                <a:schemeClr val="dk1"/>
              </a:solidFill>
              <a:latin typeface="Calibri"/>
              <a:ea typeface="Calibri"/>
              <a:cs typeface="Calibri"/>
              <a:sym typeface="Calibri"/>
            </a:endParaRPr>
          </a:p>
        </p:txBody>
      </p:sp>
      <p:sp>
        <p:nvSpPr>
          <p:cNvPr id="361" name="Google Shape;361;p11"/>
          <p:cNvSpPr/>
          <p:nvPr/>
        </p:nvSpPr>
        <p:spPr>
          <a:xfrm>
            <a:off x="521208" y="4773168"/>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b="0" i="0" lang="en-US" sz="900" u="none" cap="none" strike="noStrike">
                <a:solidFill>
                  <a:srgbClr val="607080"/>
                </a:solidFill>
                <a:latin typeface="Calibri"/>
                <a:ea typeface="Calibri"/>
                <a:cs typeface="Calibri"/>
                <a:sym typeface="Calibri"/>
              </a:rPr>
              <a:t>Image/audio augmentation: compression simulation, noise addition — essential for robustness</a:t>
            </a:r>
            <a:endParaRPr b="0" i="0" sz="900" u="none" cap="none" strike="noStrike">
              <a:solidFill>
                <a:schemeClr val="dk1"/>
              </a:solidFill>
              <a:latin typeface="Calibri"/>
              <a:ea typeface="Calibri"/>
              <a:cs typeface="Calibri"/>
              <a:sym typeface="Calibri"/>
            </a:endParaRPr>
          </a:p>
        </p:txBody>
      </p:sp>
      <p:sp>
        <p:nvSpPr>
          <p:cNvPr id="362" name="Google Shape;362;p11"/>
          <p:cNvSpPr/>
          <p:nvPr/>
        </p:nvSpPr>
        <p:spPr>
          <a:xfrm>
            <a:off x="4709160" y="4425696"/>
            <a:ext cx="4206240" cy="77724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1"/>
          <p:cNvSpPr/>
          <p:nvPr/>
        </p:nvSpPr>
        <p:spPr>
          <a:xfrm>
            <a:off x="4709160" y="4425696"/>
            <a:ext cx="109728" cy="777240"/>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4910328" y="4480560"/>
            <a:ext cx="594360" cy="201168"/>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1"/>
          <p:cNvSpPr/>
          <p:nvPr/>
        </p:nvSpPr>
        <p:spPr>
          <a:xfrm>
            <a:off x="4910328" y="4480560"/>
            <a:ext cx="59436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ALL</a:t>
            </a:r>
            <a:endParaRPr b="0" i="0" sz="750" u="none" cap="none" strike="noStrike">
              <a:solidFill>
                <a:schemeClr val="dk1"/>
              </a:solidFill>
              <a:latin typeface="Calibri"/>
              <a:ea typeface="Calibri"/>
              <a:cs typeface="Calibri"/>
              <a:sym typeface="Calibri"/>
            </a:endParaRPr>
          </a:p>
        </p:txBody>
      </p:sp>
      <p:sp>
        <p:nvSpPr>
          <p:cNvPr id="366" name="Google Shape;366;p11"/>
          <p:cNvSpPr/>
          <p:nvPr/>
        </p:nvSpPr>
        <p:spPr>
          <a:xfrm>
            <a:off x="5577840" y="4480560"/>
            <a:ext cx="324612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1050"/>
              <a:buFont typeface="Calibri"/>
              <a:buNone/>
            </a:pPr>
            <a:r>
              <a:rPr b="1" lang="en-US" sz="1050">
                <a:solidFill>
                  <a:srgbClr val="2C3E50"/>
                </a:solidFill>
                <a:latin typeface="Calibri"/>
                <a:ea typeface="Calibri"/>
                <a:cs typeface="Calibri"/>
                <a:sym typeface="Calibri"/>
              </a:rPr>
              <a:t>Deep Learning Frameworks(Pytorch/TensorFlow)</a:t>
            </a:r>
            <a:endParaRPr b="0" i="0" sz="1050" u="none" cap="none" strike="noStrike">
              <a:solidFill>
                <a:schemeClr val="dk1"/>
              </a:solidFill>
              <a:latin typeface="Calibri"/>
              <a:ea typeface="Calibri"/>
              <a:cs typeface="Calibri"/>
              <a:sym typeface="Calibri"/>
            </a:endParaRPr>
          </a:p>
        </p:txBody>
      </p:sp>
      <p:sp>
        <p:nvSpPr>
          <p:cNvPr id="367" name="Google Shape;367;p11"/>
          <p:cNvSpPr/>
          <p:nvPr/>
        </p:nvSpPr>
        <p:spPr>
          <a:xfrm>
            <a:off x="4910328" y="4773168"/>
            <a:ext cx="3895344"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07080"/>
              </a:buClr>
              <a:buSzPts val="900"/>
              <a:buFont typeface="Calibri"/>
              <a:buNone/>
            </a:pPr>
            <a:r>
              <a:rPr lang="en-US" sz="900">
                <a:solidFill>
                  <a:srgbClr val="607080"/>
                </a:solidFill>
                <a:latin typeface="Calibri"/>
                <a:ea typeface="Calibri"/>
                <a:cs typeface="Calibri"/>
                <a:sym typeface="Calibri"/>
              </a:rPr>
              <a:t>Used for building and training deep learning models. Supports image, video, and audio tasks. Provides flexibility for experimentation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372" name="Shape 372"/>
        <p:cNvGrpSpPr/>
        <p:nvPr/>
      </p:nvGrpSpPr>
      <p:grpSpPr>
        <a:xfrm>
          <a:off x="0" y="0"/>
          <a:ext cx="0" cy="0"/>
          <a:chOff x="0" y="0"/>
          <a:chExt cx="0" cy="0"/>
        </a:xfrm>
      </p:grpSpPr>
      <p:sp>
        <p:nvSpPr>
          <p:cNvPr id="373" name="Google Shape;373;p12"/>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2"/>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Key Datasets </a:t>
            </a:r>
            <a:r>
              <a:rPr b="1" lang="en-US" sz="2200">
                <a:solidFill>
                  <a:srgbClr val="FFFFFF"/>
                </a:solidFill>
                <a:latin typeface="Calibri"/>
                <a:ea typeface="Calibri"/>
                <a:cs typeface="Calibri"/>
                <a:sym typeface="Calibri"/>
              </a:rPr>
              <a:t>:</a:t>
            </a:r>
            <a:r>
              <a:rPr b="1" i="0" lang="en-US" sz="2200" u="none" cap="none" strike="noStrike">
                <a:solidFill>
                  <a:srgbClr val="FFFFFF"/>
                </a:solidFill>
                <a:latin typeface="Calibri"/>
                <a:ea typeface="Calibri"/>
                <a:cs typeface="Calibri"/>
                <a:sym typeface="Calibri"/>
              </a:rPr>
              <a:t> Image, Video &amp; Audio</a:t>
            </a:r>
            <a:endParaRPr b="0" i="0" sz="2200" u="none" cap="none" strike="noStrike">
              <a:solidFill>
                <a:schemeClr val="dk1"/>
              </a:solidFill>
              <a:latin typeface="Calibri"/>
              <a:ea typeface="Calibri"/>
              <a:cs typeface="Calibri"/>
              <a:sym typeface="Calibri"/>
            </a:endParaRPr>
          </a:p>
        </p:txBody>
      </p:sp>
      <p:graphicFrame>
        <p:nvGraphicFramePr>
          <p:cNvPr id="376" name="Google Shape;376;p12"/>
          <p:cNvGraphicFramePr/>
          <p:nvPr/>
        </p:nvGraphicFramePr>
        <p:xfrm>
          <a:off x="320040" y="987552"/>
          <a:ext cx="3000000" cy="3000000"/>
        </p:xfrm>
        <a:graphic>
          <a:graphicData uri="http://schemas.openxmlformats.org/drawingml/2006/table">
            <a:tbl>
              <a:tblPr>
                <a:noFill/>
                <a:tableStyleId>{7F2660B5-E5AD-4B41-9DAE-0C8B3363647A}</a:tableStyleId>
              </a:tblPr>
              <a:tblGrid>
                <a:gridCol w="1463050"/>
                <a:gridCol w="925950"/>
                <a:gridCol w="628550"/>
                <a:gridCol w="1554475"/>
                <a:gridCol w="2011675"/>
                <a:gridCol w="1920250"/>
              </a:tblGrid>
              <a:tr h="438900">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Dataset</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Modality</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Year</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Scale</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Fake Types Covered</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Key Feature</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sng">
                          <a:solidFill>
                            <a:schemeClr val="hlink"/>
                          </a:solidFill>
                          <a:latin typeface="Calibri"/>
                          <a:ea typeface="Calibri"/>
                          <a:cs typeface="Calibri"/>
                          <a:sym typeface="Calibri"/>
                          <a:hlinkClick r:id="rId3"/>
                        </a:rPr>
                        <a:t>Face Forensics</a:t>
                      </a:r>
                      <a:r>
                        <a:rPr lang="en-US" sz="900" u="sng" cap="none" strike="noStrike">
                          <a:solidFill>
                            <a:schemeClr val="hlink"/>
                          </a:solidFill>
                          <a:latin typeface="Calibri"/>
                          <a:ea typeface="Calibri"/>
                          <a:cs typeface="Calibri"/>
                          <a:sym typeface="Calibri"/>
                          <a:hlinkClick r:id="rId4"/>
                        </a:rPr>
                        <a:t> </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 + Video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2019</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1.8M+ images; 5,000 videos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FaceSwap, DeepFakes, Face2Face, NeuralTextures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Universal benchmark; 3 compression levels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sng" cap="none" strike="noStrike">
                          <a:solidFill>
                            <a:schemeClr val="hlink"/>
                          </a:solidFill>
                          <a:latin typeface="Calibri"/>
                          <a:ea typeface="Calibri"/>
                          <a:cs typeface="Calibri"/>
                          <a:sym typeface="Calibri"/>
                          <a:hlinkClick r:id="rId5"/>
                        </a:rPr>
                        <a:t>DFFD</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2020</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2.6M images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All 4: identity, expression, attribute, full synthesis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Only dataset with FaceAPP &amp; StyleGAN fakes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Celeb-DF v2</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 + Video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2020</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590 videos; ~87K frames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High</a:t>
                      </a:r>
                      <a:r>
                        <a:rPr lang="en-US" sz="900">
                          <a:solidFill>
                            <a:srgbClr val="2C3E50"/>
                          </a:solidFill>
                          <a:latin typeface="Calibri"/>
                          <a:ea typeface="Calibri"/>
                          <a:cs typeface="Calibri"/>
                          <a:sym typeface="Calibri"/>
                        </a:rPr>
                        <a:t> </a:t>
                      </a:r>
                      <a:r>
                        <a:rPr lang="en-US" sz="900" u="none" cap="none" strike="noStrike">
                          <a:solidFill>
                            <a:srgbClr val="2C3E50"/>
                          </a:solidFill>
                          <a:latin typeface="Calibri"/>
                          <a:ea typeface="Calibri"/>
                          <a:cs typeface="Calibri"/>
                          <a:sym typeface="Calibri"/>
                        </a:rPr>
                        <a:t>quality celebrity identity swap</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Harder than FF++; cross-dataset eval standard</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DFDC (Facebook)</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 + Video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2020</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100K+ videos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Multiple methods; diverse actors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Closest to real</a:t>
                      </a:r>
                      <a:r>
                        <a:rPr lang="en-US" sz="900">
                          <a:solidFill>
                            <a:srgbClr val="2C3E50"/>
                          </a:solidFill>
                          <a:latin typeface="Calibri"/>
                          <a:ea typeface="Calibri"/>
                          <a:cs typeface="Calibri"/>
                          <a:sym typeface="Calibri"/>
                        </a:rPr>
                        <a:t> </a:t>
                      </a:r>
                      <a:r>
                        <a:rPr lang="en-US" sz="900" u="none" cap="none" strike="noStrike">
                          <a:solidFill>
                            <a:srgbClr val="2C3E50"/>
                          </a:solidFill>
                          <a:latin typeface="Calibri"/>
                          <a:ea typeface="Calibri"/>
                          <a:cs typeface="Calibri"/>
                          <a:sym typeface="Calibri"/>
                        </a:rPr>
                        <a:t>world deepfakes; Kaggle competition</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sng" cap="none" strike="noStrike">
                          <a:solidFill>
                            <a:schemeClr val="hlink"/>
                          </a:solidFill>
                          <a:latin typeface="Calibri"/>
                          <a:ea typeface="Calibri"/>
                          <a:cs typeface="Calibri"/>
                          <a:sym typeface="Calibri"/>
                          <a:hlinkClick r:id="rId6"/>
                        </a:rPr>
                        <a:t>WildDeepfake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Video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2020</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707 videos; 7,314 faces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Multiple; collected from internet</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Real</a:t>
                      </a:r>
                      <a:r>
                        <a:rPr lang="en-US" sz="900">
                          <a:solidFill>
                            <a:srgbClr val="2C3E50"/>
                          </a:solidFill>
                          <a:latin typeface="Calibri"/>
                          <a:ea typeface="Calibri"/>
                          <a:cs typeface="Calibri"/>
                          <a:sym typeface="Calibri"/>
                        </a:rPr>
                        <a:t> </a:t>
                      </a:r>
                      <a:r>
                        <a:rPr lang="en-US" sz="900" u="none" cap="none" strike="noStrike">
                          <a:solidFill>
                            <a:srgbClr val="2C3E50"/>
                          </a:solidFill>
                          <a:latin typeface="Calibri"/>
                          <a:ea typeface="Calibri"/>
                          <a:cs typeface="Calibri"/>
                          <a:sym typeface="Calibri"/>
                        </a:rPr>
                        <a:t>world conditions; hardest benchmark</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sng" cap="none" strike="noStrike">
                          <a:solidFill>
                            <a:schemeClr val="hlink"/>
                          </a:solidFill>
                          <a:latin typeface="Calibri"/>
                          <a:ea typeface="Calibri"/>
                          <a:cs typeface="Calibri"/>
                          <a:sym typeface="Calibri"/>
                          <a:hlinkClick r:id="rId7"/>
                        </a:rPr>
                        <a:t>FakeAVCeleb</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Video + Audio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2021</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19,500 fake videos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Video manipulation + voice cloning</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First multimodal audio-video dataset</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ASVspoof 2019/2021</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Audio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2019/21</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121K utterances (2019)</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TTS synthesis + voice conversion</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Gold standard audio anti-spoofing benchmark</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38900">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DFWild-Cup</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2025</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8 datasets combined</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All major generation methods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Most recent; diverse generation methods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381" name="Shape 381"/>
        <p:cNvGrpSpPr/>
        <p:nvPr/>
      </p:nvGrpSpPr>
      <p:grpSpPr>
        <a:xfrm>
          <a:off x="0" y="0"/>
          <a:ext cx="0" cy="0"/>
          <a:chOff x="0" y="0"/>
          <a:chExt cx="0" cy="0"/>
        </a:xfrm>
      </p:grpSpPr>
      <p:sp>
        <p:nvSpPr>
          <p:cNvPr id="382" name="Google Shape;382;p14"/>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Methodology </a:t>
            </a:r>
            <a:endParaRPr b="0" i="0" sz="2200" u="none" cap="none" strike="noStrike">
              <a:solidFill>
                <a:schemeClr val="dk1"/>
              </a:solidFill>
              <a:latin typeface="Calibri"/>
              <a:ea typeface="Calibri"/>
              <a:cs typeface="Calibri"/>
              <a:sym typeface="Calibri"/>
            </a:endParaRPr>
          </a:p>
        </p:txBody>
      </p:sp>
      <p:sp>
        <p:nvSpPr>
          <p:cNvPr id="385" name="Google Shape;385;p14"/>
          <p:cNvSpPr/>
          <p:nvPr/>
        </p:nvSpPr>
        <p:spPr>
          <a:xfrm>
            <a:off x="320077" y="987550"/>
            <a:ext cx="8659800" cy="40050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4"/>
          <p:cNvSpPr/>
          <p:nvPr/>
        </p:nvSpPr>
        <p:spPr>
          <a:xfrm>
            <a:off x="320050" y="987550"/>
            <a:ext cx="2788800" cy="40350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4"/>
          <p:cNvSpPr/>
          <p:nvPr/>
        </p:nvSpPr>
        <p:spPr>
          <a:xfrm>
            <a:off x="429768" y="1024128"/>
            <a:ext cx="2560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500" u="none" cap="none" strike="noStrike">
                <a:solidFill>
                  <a:srgbClr val="FFFFFF"/>
                </a:solidFill>
                <a:latin typeface="Calibri"/>
                <a:ea typeface="Calibri"/>
                <a:cs typeface="Calibri"/>
                <a:sym typeface="Calibri"/>
              </a:rPr>
              <a:t>IMAGE Pipeline</a:t>
            </a:r>
            <a:endParaRPr b="1" i="0" sz="1500" u="none" cap="none" strike="noStrike">
              <a:solidFill>
                <a:schemeClr val="dk1"/>
              </a:solidFill>
              <a:latin typeface="Calibri"/>
              <a:ea typeface="Calibri"/>
              <a:cs typeface="Calibri"/>
              <a:sym typeface="Calibri"/>
            </a:endParaRPr>
          </a:p>
        </p:txBody>
      </p:sp>
      <p:sp>
        <p:nvSpPr>
          <p:cNvPr id="388" name="Google Shape;388;p14"/>
          <p:cNvSpPr/>
          <p:nvPr/>
        </p:nvSpPr>
        <p:spPr>
          <a:xfrm>
            <a:off x="429768" y="1517904"/>
            <a:ext cx="255900" cy="255900"/>
          </a:xfrm>
          <a:prstGeom prst="ellipse">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4"/>
          <p:cNvSpPr/>
          <p:nvPr/>
        </p:nvSpPr>
        <p:spPr>
          <a:xfrm>
            <a:off x="429768" y="1517904"/>
            <a:ext cx="2559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390" name="Google Shape;390;p14"/>
          <p:cNvSpPr/>
          <p:nvPr/>
        </p:nvSpPr>
        <p:spPr>
          <a:xfrm>
            <a:off x="758950" y="1586400"/>
            <a:ext cx="51747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3E50"/>
              </a:buClr>
              <a:buSzPts val="950"/>
              <a:buFont typeface="Calibri"/>
              <a:buNone/>
            </a:pPr>
            <a:r>
              <a:rPr b="1" lang="en-US" sz="1100"/>
              <a:t> Face Detection &amp; Extraction</a:t>
            </a:r>
            <a:r>
              <a:rPr lang="en-US" sz="1100"/>
              <a:t> Detect and crop the face from the input image.</a:t>
            </a:r>
            <a:endParaRPr b="0" i="0" sz="1200" u="none" cap="none" strike="noStrike">
              <a:solidFill>
                <a:schemeClr val="dk1"/>
              </a:solidFill>
              <a:latin typeface="Calibri"/>
              <a:ea typeface="Calibri"/>
              <a:cs typeface="Calibri"/>
              <a:sym typeface="Calibri"/>
            </a:endParaRPr>
          </a:p>
        </p:txBody>
      </p:sp>
      <p:cxnSp>
        <p:nvCxnSpPr>
          <p:cNvPr id="391" name="Google Shape;391;p14"/>
          <p:cNvCxnSpPr/>
          <p:nvPr/>
        </p:nvCxnSpPr>
        <p:spPr>
          <a:xfrm flipH="1" rot="10800000">
            <a:off x="784027" y="1883998"/>
            <a:ext cx="8170800" cy="63300"/>
          </a:xfrm>
          <a:prstGeom prst="straightConnector1">
            <a:avLst/>
          </a:prstGeom>
          <a:noFill/>
          <a:ln cap="flat" cmpd="sng" w="9525">
            <a:solidFill>
              <a:srgbClr val="E5EAF0"/>
            </a:solidFill>
            <a:prstDash val="solid"/>
            <a:round/>
            <a:headEnd len="sm" w="sm" type="none"/>
            <a:tailEnd len="sm" w="sm" type="none"/>
          </a:ln>
        </p:spPr>
      </p:cxnSp>
      <p:sp>
        <p:nvSpPr>
          <p:cNvPr id="392" name="Google Shape;392;p14"/>
          <p:cNvSpPr/>
          <p:nvPr/>
        </p:nvSpPr>
        <p:spPr>
          <a:xfrm>
            <a:off x="429768" y="2322576"/>
            <a:ext cx="256032" cy="256032"/>
          </a:xfrm>
          <a:prstGeom prst="ellipse">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4"/>
          <p:cNvSpPr/>
          <p:nvPr/>
        </p:nvSpPr>
        <p:spPr>
          <a:xfrm>
            <a:off x="429768" y="232257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94" name="Google Shape;394;p14"/>
          <p:cNvSpPr/>
          <p:nvPr/>
        </p:nvSpPr>
        <p:spPr>
          <a:xfrm>
            <a:off x="758950" y="2254425"/>
            <a:ext cx="62733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3E50"/>
              </a:buClr>
              <a:buSzPts val="950"/>
              <a:buFont typeface="Calibri"/>
              <a:buNone/>
            </a:pPr>
            <a:r>
              <a:rPr b="1" lang="en-US" sz="1100"/>
              <a:t> Spatial Feature Extraction</a:t>
            </a:r>
            <a:r>
              <a:rPr lang="en-US" sz="1100"/>
              <a:t> Analyse pixel-level patterns to find visible manipulation artifacts.</a:t>
            </a:r>
            <a:endParaRPr b="0" i="0" sz="1200" u="none" cap="none" strike="noStrike">
              <a:solidFill>
                <a:schemeClr val="dk1"/>
              </a:solidFill>
              <a:latin typeface="Calibri"/>
              <a:ea typeface="Calibri"/>
              <a:cs typeface="Calibri"/>
              <a:sym typeface="Calibri"/>
            </a:endParaRPr>
          </a:p>
        </p:txBody>
      </p:sp>
      <p:cxnSp>
        <p:nvCxnSpPr>
          <p:cNvPr id="395" name="Google Shape;395;p14"/>
          <p:cNvCxnSpPr/>
          <p:nvPr/>
        </p:nvCxnSpPr>
        <p:spPr>
          <a:xfrm flipH="1" rot="10800000">
            <a:off x="758977" y="2759775"/>
            <a:ext cx="8220900" cy="27600"/>
          </a:xfrm>
          <a:prstGeom prst="straightConnector1">
            <a:avLst/>
          </a:prstGeom>
          <a:noFill/>
          <a:ln cap="flat" cmpd="sng" w="9525">
            <a:solidFill>
              <a:srgbClr val="E5EAF0"/>
            </a:solidFill>
            <a:prstDash val="solid"/>
            <a:round/>
            <a:headEnd len="sm" w="sm" type="none"/>
            <a:tailEnd len="sm" w="sm" type="none"/>
          </a:ln>
        </p:spPr>
      </p:cxnSp>
      <p:sp>
        <p:nvSpPr>
          <p:cNvPr id="396" name="Google Shape;396;p14"/>
          <p:cNvSpPr/>
          <p:nvPr/>
        </p:nvSpPr>
        <p:spPr>
          <a:xfrm>
            <a:off x="429768" y="3127248"/>
            <a:ext cx="256032" cy="256032"/>
          </a:xfrm>
          <a:prstGeom prst="ellipse">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4"/>
          <p:cNvSpPr/>
          <p:nvPr/>
        </p:nvSpPr>
        <p:spPr>
          <a:xfrm>
            <a:off x="429768" y="3127248"/>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398" name="Google Shape;398;p14"/>
          <p:cNvSpPr/>
          <p:nvPr/>
        </p:nvSpPr>
        <p:spPr>
          <a:xfrm>
            <a:off x="859550" y="3125550"/>
            <a:ext cx="6951600" cy="82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3E50"/>
              </a:buClr>
              <a:buSzPts val="950"/>
              <a:buFont typeface="Calibri"/>
              <a:buNone/>
            </a:pPr>
            <a:r>
              <a:rPr b="1" lang="en-US" sz="1100"/>
              <a:t>Frequency Feature Extraction</a:t>
            </a:r>
            <a:r>
              <a:rPr lang="en-US" sz="1100"/>
              <a:t> Convert the image to frequency domain to reveal hidden generation traces.</a:t>
            </a:r>
            <a:endParaRPr b="0" i="0" sz="1200" u="none" cap="none" strike="noStrike">
              <a:solidFill>
                <a:schemeClr val="dk1"/>
              </a:solidFill>
              <a:latin typeface="Calibri"/>
              <a:ea typeface="Calibri"/>
              <a:cs typeface="Calibri"/>
              <a:sym typeface="Calibri"/>
            </a:endParaRPr>
          </a:p>
        </p:txBody>
      </p:sp>
      <p:cxnSp>
        <p:nvCxnSpPr>
          <p:cNvPr id="399" name="Google Shape;399;p14"/>
          <p:cNvCxnSpPr/>
          <p:nvPr/>
        </p:nvCxnSpPr>
        <p:spPr>
          <a:xfrm flipH="1" rot="10800000">
            <a:off x="758977" y="3599842"/>
            <a:ext cx="7971000" cy="24900"/>
          </a:xfrm>
          <a:prstGeom prst="straightConnector1">
            <a:avLst/>
          </a:prstGeom>
          <a:noFill/>
          <a:ln cap="flat" cmpd="sng" w="9525">
            <a:solidFill>
              <a:srgbClr val="E5EAF0"/>
            </a:solidFill>
            <a:prstDash val="solid"/>
            <a:round/>
            <a:headEnd len="sm" w="sm" type="none"/>
            <a:tailEnd len="sm" w="sm" type="none"/>
          </a:ln>
        </p:spPr>
      </p:cxnSp>
      <p:sp>
        <p:nvSpPr>
          <p:cNvPr id="400" name="Google Shape;400;p14"/>
          <p:cNvSpPr/>
          <p:nvPr/>
        </p:nvSpPr>
        <p:spPr>
          <a:xfrm>
            <a:off x="429768" y="3931920"/>
            <a:ext cx="256032" cy="256032"/>
          </a:xfrm>
          <a:prstGeom prst="ellipse">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4"/>
          <p:cNvSpPr/>
          <p:nvPr/>
        </p:nvSpPr>
        <p:spPr>
          <a:xfrm>
            <a:off x="429768" y="3931920"/>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402" name="Google Shape;402;p14"/>
          <p:cNvSpPr/>
          <p:nvPr/>
        </p:nvSpPr>
        <p:spPr>
          <a:xfrm>
            <a:off x="950975" y="3952650"/>
            <a:ext cx="6951600" cy="82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3E50"/>
              </a:buClr>
              <a:buSzPts val="950"/>
              <a:buFont typeface="Calibri"/>
              <a:buNone/>
            </a:pPr>
            <a:r>
              <a:rPr b="1" lang="en-US" sz="1100"/>
              <a:t>Fusion &amp; Classification</a:t>
            </a:r>
            <a:r>
              <a:rPr lang="en-US" sz="1100"/>
              <a:t> Combine both features and classify as Real or Fake.</a:t>
            </a:r>
            <a:endParaRPr b="0" i="0" sz="1200" u="none" cap="none" strike="noStrike">
              <a:solidFill>
                <a:schemeClr val="dk1"/>
              </a:solidFill>
              <a:latin typeface="Calibri"/>
              <a:ea typeface="Calibri"/>
              <a:cs typeface="Calibri"/>
              <a:sym typeface="Calibri"/>
            </a:endParaRPr>
          </a:p>
        </p:txBody>
      </p:sp>
      <p:cxnSp>
        <p:nvCxnSpPr>
          <p:cNvPr id="403" name="Google Shape;403;p14"/>
          <p:cNvCxnSpPr/>
          <p:nvPr/>
        </p:nvCxnSpPr>
        <p:spPr>
          <a:xfrm flipH="1" rot="10800000">
            <a:off x="564577" y="4506598"/>
            <a:ext cx="8170800" cy="63300"/>
          </a:xfrm>
          <a:prstGeom prst="straightConnector1">
            <a:avLst/>
          </a:prstGeom>
          <a:noFill/>
          <a:ln cap="flat" cmpd="sng" w="9525">
            <a:solidFill>
              <a:srgbClr val="E5EAF0"/>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408" name="Shape 408"/>
        <p:cNvGrpSpPr/>
        <p:nvPr/>
      </p:nvGrpSpPr>
      <p:grpSpPr>
        <a:xfrm>
          <a:off x="0" y="0"/>
          <a:ext cx="0" cy="0"/>
          <a:chOff x="0" y="0"/>
          <a:chExt cx="0" cy="0"/>
        </a:xfrm>
      </p:grpSpPr>
      <p:sp>
        <p:nvSpPr>
          <p:cNvPr id="409" name="Google Shape;409;p15"/>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p:nvPr/>
        </p:nvSpPr>
        <p:spPr>
          <a:xfrm>
            <a:off x="399950" y="249401"/>
            <a:ext cx="8229600" cy="52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Strengths &amp; Weaknesses by Modality</a:t>
            </a:r>
            <a:endParaRPr b="0" i="0" sz="2200" u="none" cap="none" strike="noStrike">
              <a:solidFill>
                <a:schemeClr val="dk1"/>
              </a:solidFill>
              <a:latin typeface="Calibri"/>
              <a:ea typeface="Calibri"/>
              <a:cs typeface="Calibri"/>
              <a:sym typeface="Calibri"/>
            </a:endParaRPr>
          </a:p>
        </p:txBody>
      </p:sp>
      <p:graphicFrame>
        <p:nvGraphicFramePr>
          <p:cNvPr id="412" name="Google Shape;412;p15"/>
          <p:cNvGraphicFramePr/>
          <p:nvPr/>
        </p:nvGraphicFramePr>
        <p:xfrm>
          <a:off x="320040" y="841252"/>
          <a:ext cx="3000000" cy="3000000"/>
        </p:xfrm>
        <a:graphic>
          <a:graphicData uri="http://schemas.openxmlformats.org/drawingml/2006/table">
            <a:tbl>
              <a:tblPr>
                <a:noFill/>
                <a:tableStyleId>{7F2660B5-E5AD-4B41-9DAE-0C8B3363647A}</a:tableStyleId>
              </a:tblPr>
              <a:tblGrid>
                <a:gridCol w="1754950"/>
                <a:gridCol w="712000"/>
                <a:gridCol w="2855550"/>
                <a:gridCol w="3181450"/>
              </a:tblGrid>
              <a:tr h="346375">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Approach</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Modality</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0D1B40"/>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Strengths</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A6E3A"/>
                    </a:solidFill>
                  </a:tcPr>
                </a:tc>
                <a:tc>
                  <a:txBody>
                    <a:bodyPr/>
                    <a:lstStyle/>
                    <a:p>
                      <a:pPr indent="0" lvl="0" marL="0" marR="0" rtl="0" algn="l">
                        <a:spcBef>
                          <a:spcPts val="0"/>
                        </a:spcBef>
                        <a:spcAft>
                          <a:spcPts val="0"/>
                        </a:spcAft>
                        <a:buClr>
                          <a:srgbClr val="FFFFFF"/>
                        </a:buClr>
                        <a:buSzPts val="1000"/>
                        <a:buFont typeface="Calibri"/>
                        <a:buNone/>
                      </a:pPr>
                      <a:r>
                        <a:rPr b="1" lang="en-US" sz="1000" u="none" cap="none" strike="noStrike">
                          <a:solidFill>
                            <a:srgbClr val="FFFFFF"/>
                          </a:solidFill>
                          <a:latin typeface="Calibri"/>
                          <a:ea typeface="Calibri"/>
                          <a:cs typeface="Calibri"/>
                          <a:sym typeface="Calibri"/>
                        </a:rPr>
                        <a:t>Weaknesses</a:t>
                      </a:r>
                      <a:endParaRPr sz="10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7B0000"/>
                    </a:solidFill>
                  </a:tcPr>
                </a:tc>
              </a:tr>
              <a:tr h="371250">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CNN Spatial (XceptionNet)</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High accuracy in-domain; fast; widely reproducible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Generalisation gap; no localisation; loses artefacts under compression</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CNN + Attention (FFD)</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Detection + pixel localisation; explainable; modular</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Partial manipulation IoU 0.401; no compression study; no diffusion coverage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r h="349300">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Freq. Domain (FMSI, FreqNet)</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Generalises across methods; catches GAN fingerprints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Frequency artefacts destroyed by compression; heavier compute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41975">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Foundation Models (CLIP)</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Image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Best cross-dataset generalisation; 0.03% fine-tuning</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Requires CLIP as base; less interpretable; high base model size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r h="429775">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CNN (EfficientNet-B0) + GRU</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Video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l">
                        <a:lnSpc>
                          <a:spcPct val="115000"/>
                        </a:lnSpc>
                        <a:spcBef>
                          <a:spcPts val="1200"/>
                        </a:spcBef>
                        <a:spcAft>
                          <a:spcPts val="1200"/>
                        </a:spcAft>
                        <a:buClr>
                          <a:schemeClr val="dk1"/>
                        </a:buClr>
                        <a:buSzPts val="1100"/>
                        <a:buFont typeface="Arial"/>
                        <a:buNone/>
                      </a:pPr>
                      <a:r>
                        <a:rPr lang="en-US" sz="900">
                          <a:solidFill>
                            <a:schemeClr val="dk1"/>
                          </a:solidFill>
                          <a:latin typeface="Calibri"/>
                          <a:ea typeface="Calibri"/>
                          <a:cs typeface="Calibri"/>
                          <a:sym typeface="Calibri"/>
                        </a:rPr>
                        <a:t>Captures spatial + temporal inconsistencies; efficient feature extraction; detects cross-frame artefacts</a:t>
                      </a:r>
                      <a:endParaRPr sz="900">
                        <a:solidFill>
                          <a:srgbClr val="2C3E50"/>
                        </a:solidFill>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a:solidFill>
                            <a:schemeClr val="dk1"/>
                          </a:solidFill>
                          <a:latin typeface="Calibri"/>
                          <a:ea typeface="Calibri"/>
                          <a:cs typeface="Calibri"/>
                          <a:sym typeface="Calibri"/>
                        </a:rPr>
                        <a:t>Sensitive to video compression (H.264); limited to visual modality; less powerful than transformer-based models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rPPG (biological signal)</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Video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a:solidFill>
                            <a:schemeClr val="dk1"/>
                          </a:solidFill>
                          <a:latin typeface="Calibri"/>
                          <a:ea typeface="Calibri"/>
                          <a:cs typeface="Calibri"/>
                          <a:sym typeface="Calibri"/>
                        </a:rPr>
                        <a:t>Detects physiological signals (heartbeat variations); robust to compression; difficult to spoof</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a:solidFill>
                            <a:schemeClr val="dk1"/>
                          </a:solidFill>
                          <a:latin typeface="Calibri"/>
                          <a:ea typeface="Calibri"/>
                          <a:cs typeface="Calibri"/>
                          <a:sym typeface="Calibri"/>
                        </a:rPr>
                        <a:t>Requires high-quality video and stable lighting; sensitive to motion; challenging for real-time use</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r h="385875">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Feature Based Method(MFCC-Based methods)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Audio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Simple and fast.Uses basic speech features(frequency,pitch). Easy to Intercept.</a:t>
                      </a:r>
                      <a:endParaRPr sz="900">
                        <a:solidFill>
                          <a:srgbClr val="2C3E50"/>
                        </a:solidFill>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Fails on unseen data. Sensitive to noise and compression.</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429775">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Spectrogram-Based methods</a:t>
                      </a:r>
                      <a:endParaRPr sz="900">
                        <a:solidFill>
                          <a:srgbClr val="2C3E50"/>
                        </a:solidFill>
                        <a:latin typeface="Calibri"/>
                        <a:ea typeface="Calibri"/>
                        <a:cs typeface="Calibri"/>
                        <a:sym typeface="Calibri"/>
                      </a:endParaRPr>
                    </a:p>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(CNN or Mel-spectogram)00</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Audio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Captures time and frequency information. Works well with CNN models. Useful for detecting hidden patterns.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Performance affected by low quality audio. Requires Preprocessing.</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DF2FA"/>
                    </a:solidFill>
                  </a:tcPr>
                </a:tc>
              </a:tr>
              <a:tr h="393050">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Multi Model Detection (Audio-video sync models)</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u="none" cap="none" strike="noStrike">
                          <a:solidFill>
                            <a:srgbClr val="2C3E50"/>
                          </a:solidFill>
                          <a:latin typeface="Calibri"/>
                          <a:ea typeface="Calibri"/>
                          <a:cs typeface="Calibri"/>
                          <a:sym typeface="Calibri"/>
                        </a:rPr>
                        <a:t>Video+Audio</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Uses both audio and visual information. Detects mismatch between lip movement and speech.</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C3E50"/>
                        </a:buClr>
                        <a:buSzPts val="900"/>
                        <a:buFont typeface="Calibri"/>
                        <a:buNone/>
                      </a:pPr>
                      <a:r>
                        <a:rPr lang="en-US" sz="900">
                          <a:solidFill>
                            <a:srgbClr val="2C3E50"/>
                          </a:solidFill>
                          <a:latin typeface="Calibri"/>
                          <a:ea typeface="Calibri"/>
                          <a:cs typeface="Calibri"/>
                          <a:sym typeface="Calibri"/>
                        </a:rPr>
                        <a:t>Requires both audio and video data. More complex and computational expensive. Difficult to train  and implement.</a:t>
                      </a:r>
                      <a:endParaRPr sz="900" u="none" cap="none" strike="noStrike">
                        <a:latin typeface="Calibri"/>
                        <a:ea typeface="Calibri"/>
                        <a:cs typeface="Calibri"/>
                        <a:sym typeface="Calibri"/>
                      </a:endParaRPr>
                    </a:p>
                  </a:txBody>
                  <a:tcPr marT="45725" marB="45725" marR="91450" marL="91450">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417" name="Shape 417"/>
        <p:cNvGrpSpPr/>
        <p:nvPr/>
      </p:nvGrpSpPr>
      <p:grpSpPr>
        <a:xfrm>
          <a:off x="0" y="0"/>
          <a:ext cx="0" cy="0"/>
          <a:chOff x="0" y="0"/>
          <a:chExt cx="0" cy="0"/>
        </a:xfrm>
      </p:grpSpPr>
      <p:sp>
        <p:nvSpPr>
          <p:cNvPr id="418" name="Google Shape;418;p17"/>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7"/>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Next Steps</a:t>
            </a:r>
            <a:endParaRPr b="0" i="0" sz="2200" u="none" cap="none" strike="noStrike">
              <a:solidFill>
                <a:schemeClr val="dk1"/>
              </a:solidFill>
              <a:latin typeface="Calibri"/>
              <a:ea typeface="Calibri"/>
              <a:cs typeface="Calibri"/>
              <a:sym typeface="Calibri"/>
            </a:endParaRPr>
          </a:p>
        </p:txBody>
      </p:sp>
      <p:sp>
        <p:nvSpPr>
          <p:cNvPr id="421" name="Google Shape;421;p17"/>
          <p:cNvSpPr/>
          <p:nvPr/>
        </p:nvSpPr>
        <p:spPr>
          <a:xfrm>
            <a:off x="320059" y="987550"/>
            <a:ext cx="8010600" cy="4005000"/>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7"/>
          <p:cNvSpPr/>
          <p:nvPr/>
        </p:nvSpPr>
        <p:spPr>
          <a:xfrm>
            <a:off x="320040" y="987552"/>
            <a:ext cx="4114800" cy="36576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7"/>
          <p:cNvSpPr/>
          <p:nvPr/>
        </p:nvSpPr>
        <p:spPr>
          <a:xfrm>
            <a:off x="457200" y="1014984"/>
            <a:ext cx="38404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Planned Next Steps</a:t>
            </a:r>
            <a:endParaRPr b="0" i="0" sz="1200" u="none" cap="none" strike="noStrike">
              <a:solidFill>
                <a:schemeClr val="dk1"/>
              </a:solidFill>
              <a:latin typeface="Calibri"/>
              <a:ea typeface="Calibri"/>
              <a:cs typeface="Calibri"/>
              <a:sym typeface="Calibri"/>
            </a:endParaRPr>
          </a:p>
        </p:txBody>
      </p:sp>
      <p:sp>
        <p:nvSpPr>
          <p:cNvPr id="424" name="Google Shape;424;p17"/>
          <p:cNvSpPr/>
          <p:nvPr/>
        </p:nvSpPr>
        <p:spPr>
          <a:xfrm>
            <a:off x="457200" y="1481328"/>
            <a:ext cx="530352" cy="201168"/>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p:nvPr/>
        </p:nvSpPr>
        <p:spPr>
          <a:xfrm>
            <a:off x="457200" y="1481328"/>
            <a:ext cx="53035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IMAGE</a:t>
            </a:r>
            <a:endParaRPr b="0" i="0" sz="750" u="none" cap="none" strike="noStrike">
              <a:solidFill>
                <a:schemeClr val="dk1"/>
              </a:solidFill>
              <a:latin typeface="Calibri"/>
              <a:ea typeface="Calibri"/>
              <a:cs typeface="Calibri"/>
              <a:sym typeface="Calibri"/>
            </a:endParaRPr>
          </a:p>
        </p:txBody>
      </p:sp>
      <p:sp>
        <p:nvSpPr>
          <p:cNvPr id="426" name="Google Shape;426;p17"/>
          <p:cNvSpPr/>
          <p:nvPr/>
        </p:nvSpPr>
        <p:spPr>
          <a:xfrm>
            <a:off x="1060700" y="1444650"/>
            <a:ext cx="70152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latin typeface="Calibri"/>
                <a:ea typeface="Calibri"/>
                <a:cs typeface="Calibri"/>
                <a:sym typeface="Calibri"/>
              </a:rPr>
              <a:t>Deeper study of attention-based image detection methods and compare localisation approaches from literature</a:t>
            </a:r>
            <a:endParaRPr>
              <a:latin typeface="Calibri"/>
              <a:ea typeface="Calibri"/>
              <a:cs typeface="Calibri"/>
              <a:sym typeface="Calibri"/>
            </a:endParaRPr>
          </a:p>
        </p:txBody>
      </p:sp>
      <p:cxnSp>
        <p:nvCxnSpPr>
          <p:cNvPr id="427" name="Google Shape;427;p17"/>
          <p:cNvCxnSpPr/>
          <p:nvPr/>
        </p:nvCxnSpPr>
        <p:spPr>
          <a:xfrm>
            <a:off x="457200" y="1993392"/>
            <a:ext cx="7963200" cy="6300"/>
          </a:xfrm>
          <a:prstGeom prst="straightConnector1">
            <a:avLst/>
          </a:prstGeom>
          <a:noFill/>
          <a:ln cap="flat" cmpd="sng" w="9525">
            <a:solidFill>
              <a:srgbClr val="E5EAF0"/>
            </a:solidFill>
            <a:prstDash val="solid"/>
            <a:round/>
            <a:headEnd len="sm" w="sm" type="none"/>
            <a:tailEnd len="sm" w="sm" type="none"/>
          </a:ln>
        </p:spPr>
      </p:cxnSp>
      <p:sp>
        <p:nvSpPr>
          <p:cNvPr id="428" name="Google Shape;428;p17"/>
          <p:cNvSpPr/>
          <p:nvPr/>
        </p:nvSpPr>
        <p:spPr>
          <a:xfrm>
            <a:off x="457200" y="2057400"/>
            <a:ext cx="530352" cy="201168"/>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p:nvPr/>
        </p:nvSpPr>
        <p:spPr>
          <a:xfrm>
            <a:off x="457200" y="2057400"/>
            <a:ext cx="53035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IMAGE</a:t>
            </a:r>
            <a:endParaRPr b="0" i="0" sz="750" u="none" cap="none" strike="noStrike">
              <a:solidFill>
                <a:schemeClr val="dk1"/>
              </a:solidFill>
              <a:latin typeface="Calibri"/>
              <a:ea typeface="Calibri"/>
              <a:cs typeface="Calibri"/>
              <a:sym typeface="Calibri"/>
            </a:endParaRPr>
          </a:p>
        </p:txBody>
      </p:sp>
      <p:sp>
        <p:nvSpPr>
          <p:cNvPr id="430" name="Google Shape;430;p17"/>
          <p:cNvSpPr/>
          <p:nvPr/>
        </p:nvSpPr>
        <p:spPr>
          <a:xfrm>
            <a:off x="1053200" y="1930063"/>
            <a:ext cx="71601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latin typeface="Calibri"/>
                <a:ea typeface="Calibri"/>
                <a:cs typeface="Calibri"/>
                <a:sym typeface="Calibri"/>
              </a:rPr>
              <a:t>Review more recent papers on frequency domain methods and their generalisation performance</a:t>
            </a:r>
            <a:endParaRPr>
              <a:latin typeface="Calibri"/>
              <a:ea typeface="Calibri"/>
              <a:cs typeface="Calibri"/>
              <a:sym typeface="Calibri"/>
            </a:endParaRPr>
          </a:p>
        </p:txBody>
      </p:sp>
      <p:sp>
        <p:nvSpPr>
          <p:cNvPr id="431" name="Google Shape;431;p17"/>
          <p:cNvSpPr/>
          <p:nvPr/>
        </p:nvSpPr>
        <p:spPr>
          <a:xfrm>
            <a:off x="457200" y="2633472"/>
            <a:ext cx="530352" cy="201168"/>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7"/>
          <p:cNvSpPr/>
          <p:nvPr/>
        </p:nvSpPr>
        <p:spPr>
          <a:xfrm>
            <a:off x="457200" y="2633472"/>
            <a:ext cx="5304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VIDEO</a:t>
            </a:r>
            <a:endParaRPr b="0" i="0" sz="750" u="none" cap="none" strike="noStrike">
              <a:solidFill>
                <a:schemeClr val="dk1"/>
              </a:solidFill>
              <a:latin typeface="Calibri"/>
              <a:ea typeface="Calibri"/>
              <a:cs typeface="Calibri"/>
              <a:sym typeface="Calibri"/>
            </a:endParaRPr>
          </a:p>
        </p:txBody>
      </p:sp>
      <p:sp>
        <p:nvSpPr>
          <p:cNvPr id="433" name="Google Shape;433;p17"/>
          <p:cNvSpPr/>
          <p:nvPr/>
        </p:nvSpPr>
        <p:spPr>
          <a:xfrm>
            <a:off x="1064951" y="2560663"/>
            <a:ext cx="6520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50"/>
              <a:buFont typeface="Calibri"/>
              <a:buNone/>
            </a:pPr>
            <a:r>
              <a:rPr lang="en-US">
                <a:solidFill>
                  <a:srgbClr val="2C3E50"/>
                </a:solidFill>
                <a:latin typeface="Calibri"/>
                <a:ea typeface="Calibri"/>
                <a:cs typeface="Calibri"/>
                <a:sym typeface="Calibri"/>
              </a:rPr>
              <a:t>S</a:t>
            </a:r>
            <a:r>
              <a:rPr lang="en-US">
                <a:solidFill>
                  <a:srgbClr val="2C3E50"/>
                </a:solidFill>
                <a:latin typeface="Calibri"/>
                <a:ea typeface="Calibri"/>
                <a:cs typeface="Calibri"/>
                <a:sym typeface="Calibri"/>
              </a:rPr>
              <a:t>tudy temporal consistency models in detail and compare LSTM vs Transformer-based approaches</a:t>
            </a:r>
            <a:endParaRPr b="0" i="0" u="none" cap="none" strike="noStrike">
              <a:solidFill>
                <a:schemeClr val="dk1"/>
              </a:solidFill>
              <a:latin typeface="Calibri"/>
              <a:ea typeface="Calibri"/>
              <a:cs typeface="Calibri"/>
              <a:sym typeface="Calibri"/>
            </a:endParaRPr>
          </a:p>
        </p:txBody>
      </p:sp>
      <p:sp>
        <p:nvSpPr>
          <p:cNvPr id="434" name="Google Shape;434;p17"/>
          <p:cNvSpPr/>
          <p:nvPr/>
        </p:nvSpPr>
        <p:spPr>
          <a:xfrm>
            <a:off x="457200" y="3209544"/>
            <a:ext cx="530352" cy="201168"/>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p:nvPr/>
        </p:nvSpPr>
        <p:spPr>
          <a:xfrm>
            <a:off x="457200" y="3209544"/>
            <a:ext cx="53035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AUDIO</a:t>
            </a:r>
            <a:endParaRPr b="0" i="0" sz="750" u="none" cap="none" strike="noStrike">
              <a:solidFill>
                <a:schemeClr val="dk1"/>
              </a:solidFill>
              <a:latin typeface="Calibri"/>
              <a:ea typeface="Calibri"/>
              <a:cs typeface="Calibri"/>
              <a:sym typeface="Calibri"/>
            </a:endParaRPr>
          </a:p>
        </p:txBody>
      </p:sp>
      <p:sp>
        <p:nvSpPr>
          <p:cNvPr id="436" name="Google Shape;436;p17"/>
          <p:cNvSpPr/>
          <p:nvPr/>
        </p:nvSpPr>
        <p:spPr>
          <a:xfrm>
            <a:off x="1033501" y="3115513"/>
            <a:ext cx="6810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50"/>
              <a:buFont typeface="Calibri"/>
              <a:buNone/>
            </a:pPr>
            <a:r>
              <a:rPr lang="en-US">
                <a:solidFill>
                  <a:srgbClr val="2C3E50"/>
                </a:solidFill>
                <a:latin typeface="Calibri"/>
                <a:ea typeface="Calibri"/>
                <a:cs typeface="Calibri"/>
                <a:sym typeface="Calibri"/>
              </a:rPr>
              <a:t>Expand literature review on audio deepfake detection  review more datasets and benchmark results</a:t>
            </a:r>
            <a:endParaRPr b="0" i="0" u="none" cap="none" strike="noStrike">
              <a:solidFill>
                <a:schemeClr val="dk1"/>
              </a:solidFill>
              <a:latin typeface="Calibri"/>
              <a:ea typeface="Calibri"/>
              <a:cs typeface="Calibri"/>
              <a:sym typeface="Calibri"/>
            </a:endParaRPr>
          </a:p>
        </p:txBody>
      </p:sp>
      <p:sp>
        <p:nvSpPr>
          <p:cNvPr id="437" name="Google Shape;437;p17"/>
          <p:cNvSpPr/>
          <p:nvPr/>
        </p:nvSpPr>
        <p:spPr>
          <a:xfrm>
            <a:off x="457200" y="3785616"/>
            <a:ext cx="530352" cy="201168"/>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p:nvPr/>
        </p:nvSpPr>
        <p:spPr>
          <a:xfrm>
            <a:off x="457200" y="3785616"/>
            <a:ext cx="53035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ALL</a:t>
            </a:r>
            <a:endParaRPr b="0" i="0" sz="750" u="none" cap="none" strike="noStrike">
              <a:solidFill>
                <a:schemeClr val="dk1"/>
              </a:solidFill>
              <a:latin typeface="Calibri"/>
              <a:ea typeface="Calibri"/>
              <a:cs typeface="Calibri"/>
              <a:sym typeface="Calibri"/>
            </a:endParaRPr>
          </a:p>
        </p:txBody>
      </p:sp>
      <p:sp>
        <p:nvSpPr>
          <p:cNvPr id="439" name="Google Shape;439;p17"/>
          <p:cNvSpPr/>
          <p:nvPr/>
        </p:nvSpPr>
        <p:spPr>
          <a:xfrm>
            <a:off x="1125650" y="3634175"/>
            <a:ext cx="7015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50"/>
              <a:buFont typeface="Calibri"/>
              <a:buNone/>
            </a:pPr>
            <a:r>
              <a:rPr lang="en-US">
                <a:solidFill>
                  <a:srgbClr val="2C3E50"/>
                </a:solidFill>
                <a:latin typeface="Calibri"/>
                <a:ea typeface="Calibri"/>
                <a:cs typeface="Calibri"/>
                <a:sym typeface="Calibri"/>
              </a:rPr>
              <a:t>Finalize</a:t>
            </a:r>
            <a:r>
              <a:rPr b="0" i="0" lang="en-US" u="none" cap="none" strike="noStrike">
                <a:solidFill>
                  <a:srgbClr val="2C3E50"/>
                </a:solidFill>
                <a:latin typeface="Calibri"/>
                <a:ea typeface="Calibri"/>
                <a:cs typeface="Calibri"/>
                <a:sym typeface="Calibri"/>
              </a:rPr>
              <a:t> methodology: decide on algorithms, tools, and datasets based on literature findings</a:t>
            </a:r>
            <a:endParaRPr b="0" i="0" u="none" cap="none" strike="noStrike">
              <a:solidFill>
                <a:schemeClr val="dk1"/>
              </a:solidFill>
              <a:latin typeface="Calibri"/>
              <a:ea typeface="Calibri"/>
              <a:cs typeface="Calibri"/>
              <a:sym typeface="Calibri"/>
            </a:endParaRPr>
          </a:p>
        </p:txBody>
      </p:sp>
      <p:sp>
        <p:nvSpPr>
          <p:cNvPr id="440" name="Google Shape;440;p17"/>
          <p:cNvSpPr/>
          <p:nvPr/>
        </p:nvSpPr>
        <p:spPr>
          <a:xfrm>
            <a:off x="457200" y="4361688"/>
            <a:ext cx="530352" cy="201168"/>
          </a:xfrm>
          <a:prstGeom prst="rect">
            <a:avLst/>
          </a:prstGeom>
          <a:solidFill>
            <a:srgbClr val="0E6E5A"/>
          </a:solidFill>
          <a:ln cap="flat" cmpd="sng" w="12700">
            <a:solidFill>
              <a:srgbClr val="0E6E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p:nvPr/>
        </p:nvSpPr>
        <p:spPr>
          <a:xfrm>
            <a:off x="457200" y="4361688"/>
            <a:ext cx="530352"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50"/>
              <a:buFont typeface="Calibri"/>
              <a:buNone/>
            </a:pPr>
            <a:r>
              <a:rPr b="1" i="0" lang="en-US" sz="750" u="none" cap="none" strike="noStrike">
                <a:solidFill>
                  <a:srgbClr val="FFFFFF"/>
                </a:solidFill>
                <a:latin typeface="Calibri"/>
                <a:ea typeface="Calibri"/>
                <a:cs typeface="Calibri"/>
                <a:sym typeface="Calibri"/>
              </a:rPr>
              <a:t>ALL</a:t>
            </a:r>
            <a:endParaRPr b="0" i="0" sz="750" u="none" cap="none" strike="noStrike">
              <a:solidFill>
                <a:schemeClr val="dk1"/>
              </a:solidFill>
              <a:latin typeface="Calibri"/>
              <a:ea typeface="Calibri"/>
              <a:cs typeface="Calibri"/>
              <a:sym typeface="Calibri"/>
            </a:endParaRPr>
          </a:p>
        </p:txBody>
      </p:sp>
      <p:sp>
        <p:nvSpPr>
          <p:cNvPr id="442" name="Google Shape;442;p17"/>
          <p:cNvSpPr/>
          <p:nvPr/>
        </p:nvSpPr>
        <p:spPr>
          <a:xfrm>
            <a:off x="1060700" y="4251825"/>
            <a:ext cx="7015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3E50"/>
              </a:buClr>
              <a:buSzPts val="950"/>
              <a:buFont typeface="Calibri"/>
              <a:buNone/>
            </a:pPr>
            <a:r>
              <a:rPr lang="en-US">
                <a:solidFill>
                  <a:srgbClr val="2C3E50"/>
                </a:solidFill>
                <a:latin typeface="Calibri"/>
                <a:ea typeface="Calibri"/>
                <a:cs typeface="Calibri"/>
                <a:sym typeface="Calibri"/>
              </a:rPr>
              <a:t>Define evaluation metrics and selection criteria for the system to be built in next phase.</a:t>
            </a:r>
            <a:endParaRPr b="0" i="0" u="none" cap="none" strike="noStrike">
              <a:solidFill>
                <a:schemeClr val="dk1"/>
              </a:solidFill>
              <a:latin typeface="Calibri"/>
              <a:ea typeface="Calibri"/>
              <a:cs typeface="Calibri"/>
              <a:sym typeface="Calibri"/>
            </a:endParaRPr>
          </a:p>
        </p:txBody>
      </p:sp>
      <p:cxnSp>
        <p:nvCxnSpPr>
          <p:cNvPr id="443" name="Google Shape;443;p17"/>
          <p:cNvCxnSpPr/>
          <p:nvPr/>
        </p:nvCxnSpPr>
        <p:spPr>
          <a:xfrm>
            <a:off x="343750" y="2552530"/>
            <a:ext cx="7963200" cy="6300"/>
          </a:xfrm>
          <a:prstGeom prst="straightConnector1">
            <a:avLst/>
          </a:prstGeom>
          <a:noFill/>
          <a:ln cap="flat" cmpd="sng" w="9525">
            <a:solidFill>
              <a:srgbClr val="E5EAF0"/>
            </a:solidFill>
            <a:prstDash val="solid"/>
            <a:round/>
            <a:headEnd len="sm" w="sm" type="none"/>
            <a:tailEnd len="sm" w="sm" type="none"/>
          </a:ln>
        </p:spPr>
      </p:cxnSp>
      <p:cxnSp>
        <p:nvCxnSpPr>
          <p:cNvPr id="444" name="Google Shape;444;p17"/>
          <p:cNvCxnSpPr/>
          <p:nvPr/>
        </p:nvCxnSpPr>
        <p:spPr>
          <a:xfrm>
            <a:off x="343750" y="3634180"/>
            <a:ext cx="7963200" cy="6300"/>
          </a:xfrm>
          <a:prstGeom prst="straightConnector1">
            <a:avLst/>
          </a:prstGeom>
          <a:noFill/>
          <a:ln cap="flat" cmpd="sng" w="9525">
            <a:solidFill>
              <a:srgbClr val="E5EAF0"/>
            </a:solidFill>
            <a:prstDash val="solid"/>
            <a:round/>
            <a:headEnd len="sm" w="sm" type="none"/>
            <a:tailEnd len="sm" w="sm" type="none"/>
          </a:ln>
        </p:spPr>
      </p:cxnSp>
      <p:cxnSp>
        <p:nvCxnSpPr>
          <p:cNvPr id="445" name="Google Shape;445;p17"/>
          <p:cNvCxnSpPr/>
          <p:nvPr/>
        </p:nvCxnSpPr>
        <p:spPr>
          <a:xfrm>
            <a:off x="415050" y="4263817"/>
            <a:ext cx="7963200" cy="6300"/>
          </a:xfrm>
          <a:prstGeom prst="straightConnector1">
            <a:avLst/>
          </a:prstGeom>
          <a:noFill/>
          <a:ln cap="flat" cmpd="sng" w="9525">
            <a:solidFill>
              <a:srgbClr val="E5EAF0"/>
            </a:solidFill>
            <a:prstDash val="solid"/>
            <a:round/>
            <a:headEnd len="sm" w="sm" type="none"/>
            <a:tailEnd len="sm" w="sm" type="none"/>
          </a:ln>
        </p:spPr>
      </p:cxnSp>
      <p:cxnSp>
        <p:nvCxnSpPr>
          <p:cNvPr id="446" name="Google Shape;446;p17"/>
          <p:cNvCxnSpPr/>
          <p:nvPr/>
        </p:nvCxnSpPr>
        <p:spPr>
          <a:xfrm>
            <a:off x="343750" y="3093355"/>
            <a:ext cx="7963200" cy="6300"/>
          </a:xfrm>
          <a:prstGeom prst="straightConnector1">
            <a:avLst/>
          </a:prstGeom>
          <a:noFill/>
          <a:ln cap="flat" cmpd="sng" w="9525">
            <a:solidFill>
              <a:srgbClr val="E5EAF0"/>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5FA"/>
        </a:solidFill>
      </p:bgPr>
    </p:bg>
    <p:spTree>
      <p:nvGrpSpPr>
        <p:cNvPr id="451" name="Shape 451"/>
        <p:cNvGrpSpPr/>
        <p:nvPr/>
      </p:nvGrpSpPr>
      <p:grpSpPr>
        <a:xfrm>
          <a:off x="0" y="0"/>
          <a:ext cx="0" cy="0"/>
          <a:chOff x="0" y="0"/>
          <a:chExt cx="0" cy="0"/>
        </a:xfrm>
      </p:grpSpPr>
      <p:sp>
        <p:nvSpPr>
          <p:cNvPr id="452" name="Google Shape;452;p19"/>
          <p:cNvSpPr/>
          <p:nvPr/>
        </p:nvSpPr>
        <p:spPr>
          <a:xfrm>
            <a:off x="0" y="0"/>
            <a:ext cx="164592" cy="5143500"/>
          </a:xfrm>
          <a:prstGeom prst="rect">
            <a:avLst/>
          </a:prstGeom>
          <a:solidFill>
            <a:srgbClr val="0D1B40"/>
          </a:solidFill>
          <a:ln cap="flat" cmpd="sng" w="12700">
            <a:solidFill>
              <a:srgbClr val="0D1B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9"/>
          <p:cNvSpPr/>
          <p:nvPr/>
        </p:nvSpPr>
        <p:spPr>
          <a:xfrm>
            <a:off x="320040" y="182880"/>
            <a:ext cx="8503920" cy="658368"/>
          </a:xfrm>
          <a:prstGeom prst="rect">
            <a:avLst/>
          </a:prstGeom>
          <a:solidFill>
            <a:srgbClr val="0D1B40"/>
          </a:solidFill>
          <a:ln cap="flat" cmpd="sng" w="12700">
            <a:solidFill>
              <a:srgbClr val="0D1B40"/>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457200" y="210312"/>
            <a:ext cx="8229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References</a:t>
            </a:r>
            <a:endParaRPr b="0" i="0" sz="2200" u="none" cap="none" strike="noStrike">
              <a:solidFill>
                <a:schemeClr val="dk1"/>
              </a:solidFill>
              <a:latin typeface="Calibri"/>
              <a:ea typeface="Calibri"/>
              <a:cs typeface="Calibri"/>
              <a:sym typeface="Calibri"/>
            </a:endParaRPr>
          </a:p>
        </p:txBody>
      </p:sp>
      <p:sp>
        <p:nvSpPr>
          <p:cNvPr id="455" name="Google Shape;455;p19"/>
          <p:cNvSpPr/>
          <p:nvPr/>
        </p:nvSpPr>
        <p:spPr>
          <a:xfrm>
            <a:off x="320040" y="987552"/>
            <a:ext cx="4114800" cy="40050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9"/>
          <p:cNvSpPr/>
          <p:nvPr/>
        </p:nvSpPr>
        <p:spPr>
          <a:xfrm>
            <a:off x="480063" y="987554"/>
            <a:ext cx="3886200" cy="38589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1000">
                <a:solidFill>
                  <a:srgbClr val="333333"/>
                </a:solidFill>
                <a:latin typeface="Calibri"/>
                <a:ea typeface="Calibri"/>
                <a:cs typeface="Calibri"/>
                <a:sym typeface="Calibri"/>
              </a:rPr>
              <a:t>[1] H. Zhao et al., “Multi-attentional deepfake detection,” 2021.</a:t>
            </a:r>
            <a:br>
              <a:rPr lang="en-US" sz="1000">
                <a:solidFill>
                  <a:schemeClr val="dk1"/>
                </a:solidFill>
                <a:latin typeface="Calibri"/>
                <a:ea typeface="Calibri"/>
                <a:cs typeface="Calibri"/>
                <a:sym typeface="Calibri"/>
              </a:rPr>
            </a:br>
            <a:r>
              <a:rPr lang="en-US" sz="1000">
                <a:solidFill>
                  <a:schemeClr val="dk1"/>
                </a:solidFill>
                <a:uFill>
                  <a:noFill/>
                </a:uFill>
                <a:latin typeface="Calibri"/>
                <a:ea typeface="Calibri"/>
                <a:cs typeface="Calibri"/>
                <a:sym typeface="Calibri"/>
                <a:hlinkClick r:id="rId3">
                  <a:extLst>
                    <a:ext uri="{A12FA001-AC4F-418D-AE19-62706E023703}">
                      <ahyp:hlinkClr val="tx"/>
                    </a:ext>
                  </a:extLst>
                </a:hlinkClick>
              </a:rPr>
              <a:t> </a:t>
            </a:r>
            <a:r>
              <a:rPr lang="en-US" sz="1000" u="sng">
                <a:solidFill>
                  <a:schemeClr val="hlink"/>
                </a:solidFill>
                <a:latin typeface="Calibri"/>
                <a:ea typeface="Calibri"/>
                <a:cs typeface="Calibri"/>
                <a:sym typeface="Calibri"/>
                <a:hlinkClick r:id="rId4"/>
              </a:rPr>
              <a:t>https://arxiv.org/abs/2103.02406</a:t>
            </a:r>
            <a:endParaRPr sz="1000" u="sng">
              <a:solidFill>
                <a:schemeClr val="hlink"/>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000">
                <a:solidFill>
                  <a:srgbClr val="333333"/>
                </a:solidFill>
                <a:latin typeface="Calibri"/>
                <a:ea typeface="Calibri"/>
                <a:cs typeface="Calibri"/>
                <a:sym typeface="Calibri"/>
              </a:rPr>
              <a:t>[2] Y. Li et al., “Detecting deepfake videos by creating spatio temporal discrepancies,” 2022.</a:t>
            </a:r>
            <a:r>
              <a:rPr lang="en-US" sz="1000">
                <a:solidFill>
                  <a:schemeClr val="dk1"/>
                </a:solidFill>
                <a:latin typeface="Calibri"/>
                <a:ea typeface="Calibri"/>
                <a:cs typeface="Calibri"/>
                <a:sym typeface="Calibri"/>
              </a:rPr>
              <a:t> </a:t>
            </a:r>
            <a:r>
              <a:rPr lang="en-US" sz="1000" u="sng">
                <a:solidFill>
                  <a:schemeClr val="hlink"/>
                </a:solidFill>
                <a:latin typeface="Calibri"/>
                <a:ea typeface="Calibri"/>
                <a:cs typeface="Calibri"/>
                <a:sym typeface="Calibri"/>
                <a:hlinkClick r:id="rId5"/>
              </a:rPr>
              <a:t>https://arxiv.org/abs/2207.10402</a:t>
            </a:r>
            <a:endParaRPr sz="1000" u="sng">
              <a:solidFill>
                <a:schemeClr val="hlink"/>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000">
                <a:solidFill>
                  <a:srgbClr val="333333"/>
                </a:solidFill>
                <a:latin typeface="Calibri"/>
                <a:ea typeface="Calibri"/>
                <a:cs typeface="Calibri"/>
                <a:sym typeface="Calibri"/>
              </a:rPr>
              <a:t>[3] A. Yadav et al., “Face NeSt: Deepfake detection using nested attention architecture,” 2024.</a:t>
            </a:r>
            <a:br>
              <a:rPr lang="en-US" sz="1000">
                <a:solidFill>
                  <a:schemeClr val="dk1"/>
                </a:solidFill>
                <a:latin typeface="Calibri"/>
                <a:ea typeface="Calibri"/>
                <a:cs typeface="Calibri"/>
                <a:sym typeface="Calibri"/>
              </a:rPr>
            </a:br>
            <a:r>
              <a:rPr lang="en-US" sz="1000" u="sng">
                <a:solidFill>
                  <a:schemeClr val="hlink"/>
                </a:solidFill>
                <a:latin typeface="Calibri"/>
                <a:ea typeface="Calibri"/>
                <a:cs typeface="Calibri"/>
                <a:sym typeface="Calibri"/>
                <a:hlinkClick r:id="rId6"/>
              </a:rPr>
              <a:t>https://www.sciencedirect.com/science/article/abs/pii/S0952197623016275</a:t>
            </a:r>
            <a:endParaRPr sz="1000" u="sng">
              <a:solidFill>
                <a:schemeClr val="hlink"/>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000">
                <a:solidFill>
                  <a:srgbClr val="333333"/>
                </a:solidFill>
                <a:latin typeface="Calibri"/>
                <a:ea typeface="Calibri"/>
                <a:cs typeface="Calibri"/>
                <a:sym typeface="Calibri"/>
              </a:rPr>
              <a:t>[4] Z. Yan et al., “Deepfake detection using spatio temporal transformer,” 2024</a:t>
            </a:r>
            <a:r>
              <a:rPr lang="en-US" sz="1000">
                <a:solidFill>
                  <a:schemeClr val="dk1"/>
                </a:solidFill>
                <a:latin typeface="Calibri"/>
                <a:ea typeface="Calibri"/>
                <a:cs typeface="Calibri"/>
                <a:sym typeface="Calibri"/>
              </a:rPr>
              <a:t>. </a:t>
            </a:r>
            <a:r>
              <a:rPr lang="en-US" sz="1000" u="sng">
                <a:solidFill>
                  <a:schemeClr val="hlink"/>
                </a:solidFill>
                <a:latin typeface="Calibri"/>
                <a:ea typeface="Calibri"/>
                <a:cs typeface="Calibri"/>
                <a:sym typeface="Calibri"/>
                <a:hlinkClick r:id="rId7"/>
              </a:rPr>
              <a:t>https://arxiv.org/abs/2312.04961</a:t>
            </a:r>
            <a:endParaRPr sz="1000" u="sng">
              <a:solidFill>
                <a:schemeClr val="hlink"/>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000">
                <a:solidFill>
                  <a:srgbClr val="333333"/>
                </a:solidFill>
                <a:latin typeface="Calibri"/>
                <a:ea typeface="Calibri"/>
                <a:cs typeface="Calibri"/>
                <a:sym typeface="Calibri"/>
              </a:rPr>
              <a:t>[5] H. Dang et al., “On the detection of digital face manipulation,” CVPR, 2020</a:t>
            </a:r>
            <a:r>
              <a:rPr lang="en-US" sz="1000">
                <a:solidFill>
                  <a:schemeClr val="dk1"/>
                </a:solidFill>
                <a:latin typeface="Calibri"/>
                <a:ea typeface="Calibri"/>
                <a:cs typeface="Calibri"/>
                <a:sym typeface="Calibri"/>
              </a:rPr>
              <a:t>. </a:t>
            </a:r>
            <a:r>
              <a:rPr lang="en-US" sz="1000" u="sng">
                <a:solidFill>
                  <a:schemeClr val="hlink"/>
                </a:solidFill>
                <a:latin typeface="Calibri"/>
                <a:ea typeface="Calibri"/>
                <a:cs typeface="Calibri"/>
                <a:sym typeface="Calibri"/>
                <a:hlinkClick r:id="rId8"/>
              </a:rPr>
              <a:t>http://cvlab.cse.msu.edu/project-ffd.html</a:t>
            </a:r>
            <a:endParaRPr sz="1000" u="sng">
              <a:solidFill>
                <a:schemeClr val="hlink"/>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000">
                <a:solidFill>
                  <a:schemeClr val="dk1"/>
                </a:solidFill>
                <a:latin typeface="Calibri"/>
                <a:ea typeface="Calibri"/>
                <a:cs typeface="Calibri"/>
                <a:sym typeface="Calibri"/>
              </a:rPr>
              <a:t>[6]</a:t>
            </a:r>
            <a:r>
              <a:rPr lang="en-US" sz="1000">
                <a:solidFill>
                  <a:srgbClr val="333333"/>
                </a:solidFill>
                <a:latin typeface="Calibri"/>
                <a:ea typeface="Calibri"/>
                <a:cs typeface="Calibri"/>
                <a:sym typeface="Calibri"/>
              </a:rPr>
              <a:t> “Recent Advances in Deepfake Detection,” arXiv:2406.02951, 2024</a:t>
            </a:r>
            <a:r>
              <a:rPr lang="en-US" sz="1000">
                <a:solidFill>
                  <a:schemeClr val="dk1"/>
                </a:solidFill>
                <a:latin typeface="Calibri"/>
                <a:ea typeface="Calibri"/>
                <a:cs typeface="Calibri"/>
                <a:sym typeface="Calibri"/>
              </a:rPr>
              <a:t>.</a:t>
            </a:r>
            <a:r>
              <a:rPr lang="en-US" sz="1000" u="sng">
                <a:solidFill>
                  <a:schemeClr val="hlink"/>
                </a:solidFill>
                <a:latin typeface="Calibri"/>
                <a:ea typeface="Calibri"/>
                <a:cs typeface="Calibri"/>
                <a:sym typeface="Calibri"/>
                <a:hlinkClick r:id="rId9"/>
              </a:rPr>
              <a:t>https://arxiv.org/pdf/2406.02951v1</a:t>
            </a:r>
            <a:endParaRPr sz="1000" u="sng">
              <a:solidFill>
                <a:schemeClr val="hlink"/>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t/>
            </a:r>
            <a:endParaRPr sz="900">
              <a:solidFill>
                <a:schemeClr val="dk1"/>
              </a:solidFill>
            </a:endParaRPr>
          </a:p>
          <a:p>
            <a:pPr indent="0" lvl="0" marL="0" marR="0" rtl="0" algn="l">
              <a:spcBef>
                <a:spcPts val="1200"/>
              </a:spcBef>
              <a:spcAft>
                <a:spcPts val="0"/>
              </a:spcAft>
              <a:buClr>
                <a:srgbClr val="2C3E50"/>
              </a:buClr>
              <a:buSzPts val="850"/>
              <a:buFont typeface="Calibri"/>
              <a:buNone/>
            </a:pPr>
            <a:r>
              <a:t/>
            </a:r>
            <a:endParaRPr sz="900">
              <a:solidFill>
                <a:schemeClr val="dk1"/>
              </a:solidFill>
              <a:latin typeface="Calibri"/>
              <a:ea typeface="Calibri"/>
              <a:cs typeface="Calibri"/>
              <a:sym typeface="Calibri"/>
            </a:endParaRPr>
          </a:p>
        </p:txBody>
      </p:sp>
      <p:sp>
        <p:nvSpPr>
          <p:cNvPr id="457" name="Google Shape;457;p19"/>
          <p:cNvSpPr/>
          <p:nvPr/>
        </p:nvSpPr>
        <p:spPr>
          <a:xfrm>
            <a:off x="4681728" y="987552"/>
            <a:ext cx="4142232" cy="4005072"/>
          </a:xfrm>
          <a:prstGeom prst="rect">
            <a:avLst/>
          </a:prstGeom>
          <a:solidFill>
            <a:srgbClr val="FFFFFF"/>
          </a:solidFill>
          <a:ln cap="flat" cmpd="sng" w="12700">
            <a:solidFill>
              <a:srgbClr val="DDE4EE"/>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4796013" y="987617"/>
            <a:ext cx="3913500" cy="38589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0"/>
              </a:spcAft>
              <a:buClr>
                <a:schemeClr val="dk1"/>
              </a:buClr>
              <a:buSzPts val="1100"/>
              <a:buFont typeface="Arial"/>
              <a:buNone/>
            </a:pPr>
            <a:r>
              <a:rPr lang="en-US" sz="1000">
                <a:solidFill>
                  <a:srgbClr val="333333"/>
                </a:solidFill>
                <a:latin typeface="Calibri"/>
                <a:ea typeface="Calibri"/>
                <a:cs typeface="Calibri"/>
                <a:sym typeface="Calibri"/>
              </a:rPr>
              <a:t>[7] Y. Zhu, S. Koppisetti, T. Tran, and G. Bharaj, “: Style Linguistics Mismatch Model for Generalized Audio Deepfake Detection,” </a:t>
            </a:r>
            <a:r>
              <a:rPr i="1" lang="en-US" sz="1000">
                <a:solidFill>
                  <a:srgbClr val="333333"/>
                </a:solidFill>
                <a:latin typeface="Calibri"/>
                <a:ea typeface="Calibri"/>
                <a:cs typeface="Calibri"/>
                <a:sym typeface="Calibri"/>
              </a:rPr>
              <a:t>Advances in Neural Information Processing Systems (NeurIPS)</a:t>
            </a:r>
            <a:r>
              <a:rPr lang="en-US" sz="1000">
                <a:solidFill>
                  <a:srgbClr val="333333"/>
                </a:solidFill>
                <a:latin typeface="Calibri"/>
                <a:ea typeface="Calibri"/>
                <a:cs typeface="Calibri"/>
                <a:sym typeface="Calibri"/>
              </a:rPr>
              <a:t>, vol. 37, 2024. Available:</a:t>
            </a:r>
            <a:r>
              <a:rPr lang="en-US" sz="1000">
                <a:solidFill>
                  <a:schemeClr val="dk1"/>
                </a:solidFill>
                <a:uFill>
                  <a:noFill/>
                </a:uFill>
                <a:latin typeface="Calibri"/>
                <a:ea typeface="Calibri"/>
                <a:cs typeface="Calibri"/>
                <a:sym typeface="Calibri"/>
                <a:hlinkClick r:id="rId10">
                  <a:extLst>
                    <a:ext uri="{A12FA001-AC4F-418D-AE19-62706E023703}">
                      <ahyp:hlinkClr val="tx"/>
                    </a:ext>
                  </a:extLst>
                </a:hlinkClick>
              </a:rPr>
              <a:t> </a:t>
            </a:r>
            <a:r>
              <a:rPr lang="en-US" sz="1000" u="sng">
                <a:solidFill>
                  <a:schemeClr val="hlink"/>
                </a:solidFill>
                <a:latin typeface="Calibri"/>
                <a:ea typeface="Calibri"/>
                <a:cs typeface="Calibri"/>
                <a:sym typeface="Calibri"/>
                <a:hlinkClick r:id="rId11"/>
              </a:rPr>
              <a:t>https://proceedings.neurips.cc/paper_files/paper/2024/file/7d6930fd71740eae21224a5ffb70cb8c-Paper-Conference.pdf</a:t>
            </a:r>
            <a:endParaRPr sz="1000" u="sng">
              <a:solidFill>
                <a:schemeClr val="hlink"/>
              </a:solidFill>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000">
                <a:solidFill>
                  <a:srgbClr val="333333"/>
                </a:solidFill>
                <a:latin typeface="Calibri"/>
                <a:ea typeface="Calibri"/>
                <a:cs typeface="Calibri"/>
                <a:sym typeface="Calibri"/>
              </a:rPr>
              <a:t>[8]</a:t>
            </a:r>
            <a:r>
              <a:rPr lang="en-US" sz="1000">
                <a:solidFill>
                  <a:schemeClr val="dk1"/>
                </a:solidFill>
                <a:latin typeface="Calibri"/>
                <a:ea typeface="Calibri"/>
                <a:cs typeface="Calibri"/>
                <a:sym typeface="Calibri"/>
              </a:rPr>
              <a:t> </a:t>
            </a:r>
            <a:r>
              <a:rPr lang="en-US" sz="1000">
                <a:solidFill>
                  <a:srgbClr val="333333"/>
                </a:solidFill>
                <a:latin typeface="Calibri"/>
                <a:ea typeface="Calibri"/>
                <a:cs typeface="Calibri"/>
                <a:sym typeface="Calibri"/>
              </a:rPr>
              <a:t>Y. Li and S. Lyu, “Exposing deepfake videos by detecting face warping artifacts,” </a:t>
            </a:r>
            <a:r>
              <a:rPr lang="en-US" sz="1000" u="sng">
                <a:solidFill>
                  <a:schemeClr val="hlink"/>
                </a:solidFill>
                <a:latin typeface="Calibri"/>
                <a:ea typeface="Calibri"/>
                <a:cs typeface="Calibri"/>
                <a:sym typeface="Calibri"/>
                <a:hlinkClick r:id="rId12"/>
              </a:rPr>
              <a:t>https://arxiv.org/abs/1911.05351</a:t>
            </a:r>
            <a:endParaRPr sz="1000">
              <a:latin typeface="Calibri"/>
              <a:ea typeface="Calibri"/>
              <a:cs typeface="Calibri"/>
              <a:sym typeface="Calibri"/>
            </a:endParaRPr>
          </a:p>
          <a:p>
            <a:pPr indent="0" lvl="0" marL="0" rtl="0" algn="just">
              <a:lnSpc>
                <a:spcPct val="115000"/>
              </a:lnSpc>
              <a:spcBef>
                <a:spcPts val="1200"/>
              </a:spcBef>
              <a:spcAft>
                <a:spcPts val="0"/>
              </a:spcAft>
              <a:buClr>
                <a:schemeClr val="dk1"/>
              </a:buClr>
              <a:buSzPts val="1100"/>
              <a:buFont typeface="Arial"/>
              <a:buNone/>
            </a:pPr>
            <a:r>
              <a:rPr lang="en-US" sz="1000">
                <a:latin typeface="Calibri"/>
                <a:ea typeface="Calibri"/>
                <a:cs typeface="Calibri"/>
                <a:sym typeface="Calibri"/>
              </a:rPr>
              <a:t>[9] S. Singh, “Unmasking digital deceptions: An integrative review of deepfake detection, multimedia forensics, and cybersecurity challenges,” 2025. [Online]. Available:</a:t>
            </a:r>
            <a:r>
              <a:rPr lang="en-US" sz="1000" u="sng">
                <a:solidFill>
                  <a:schemeClr val="hlink"/>
                </a:solidFill>
                <a:latin typeface="Calibri"/>
                <a:ea typeface="Calibri"/>
                <a:cs typeface="Calibri"/>
                <a:sym typeface="Calibri"/>
                <a:hlinkClick r:id="rId13"/>
              </a:rPr>
              <a:t>https://pmc.ncbi.nlm.nih.gov/articles/PMC12508882/</a:t>
            </a:r>
            <a:endParaRPr sz="1000">
              <a:latin typeface="Calibri"/>
              <a:ea typeface="Calibri"/>
              <a:cs typeface="Calibri"/>
              <a:sym typeface="Calibri"/>
            </a:endParaRPr>
          </a:p>
          <a:p>
            <a:pPr indent="0" lvl="0" marL="0" rtl="0" algn="just">
              <a:lnSpc>
                <a:spcPct val="115000"/>
              </a:lnSpc>
              <a:spcBef>
                <a:spcPts val="1200"/>
              </a:spcBef>
              <a:spcAft>
                <a:spcPts val="1200"/>
              </a:spcAft>
              <a:buClr>
                <a:schemeClr val="dk1"/>
              </a:buClr>
              <a:buSzPts val="1100"/>
              <a:buFont typeface="Arial"/>
              <a:buNone/>
            </a:pPr>
            <a:r>
              <a:rPr lang="en-US" sz="1000">
                <a:latin typeface="Calibri"/>
                <a:ea typeface="Calibri"/>
                <a:cs typeface="Calibri"/>
                <a:sym typeface="Calibri"/>
              </a:rPr>
              <a:t>[10] U. M. G. and P. B. M., “Deep fake video/image detection using deep learning,” </a:t>
            </a:r>
            <a:r>
              <a:rPr i="1" lang="en-US" sz="1000">
                <a:latin typeface="Calibri"/>
                <a:ea typeface="Calibri"/>
                <a:cs typeface="Calibri"/>
                <a:sym typeface="Calibri"/>
              </a:rPr>
              <a:t>Global Journal of Engineering and Technology Advances</a:t>
            </a:r>
            <a:r>
              <a:rPr lang="en-US" sz="1000">
                <a:latin typeface="Calibri"/>
                <a:ea typeface="Calibri"/>
                <a:cs typeface="Calibri"/>
                <a:sym typeface="Calibri"/>
              </a:rPr>
              <a:t>, vol. 20, no. 2, pp. 74–80, Aug. 2024. [Online]. Available:</a:t>
            </a:r>
            <a:r>
              <a:rPr lang="en-US" sz="1000">
                <a:uFill>
                  <a:noFill/>
                </a:uFill>
                <a:latin typeface="Calibri"/>
                <a:ea typeface="Calibri"/>
                <a:cs typeface="Calibri"/>
                <a:sym typeface="Calibri"/>
                <a:hlinkClick r:id="rId14"/>
              </a:rPr>
              <a:t> </a:t>
            </a:r>
            <a:r>
              <a:rPr lang="en-US" sz="1000" u="sng">
                <a:solidFill>
                  <a:schemeClr val="hlink"/>
                </a:solidFill>
                <a:latin typeface="Calibri"/>
                <a:ea typeface="Calibri"/>
                <a:cs typeface="Calibri"/>
                <a:sym typeface="Calibri"/>
                <a:hlinkClick r:id="rId15"/>
              </a:rPr>
              <a:t>https://doi.org/10.30574/gjeta.2024.20.2.0148</a:t>
            </a:r>
            <a:endParaRPr sz="9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0"/>
        </a:solidFill>
      </p:bgPr>
    </p:bg>
    <p:spTree>
      <p:nvGrpSpPr>
        <p:cNvPr id="463" name="Shape 463"/>
        <p:cNvGrpSpPr/>
        <p:nvPr/>
      </p:nvGrpSpPr>
      <p:grpSpPr>
        <a:xfrm>
          <a:off x="0" y="0"/>
          <a:ext cx="0" cy="0"/>
          <a:chOff x="0" y="0"/>
          <a:chExt cx="0" cy="0"/>
        </a:xfrm>
      </p:grpSpPr>
      <p:sp>
        <p:nvSpPr>
          <p:cNvPr id="464" name="Google Shape;464;p20"/>
          <p:cNvSpPr/>
          <p:nvPr/>
        </p:nvSpPr>
        <p:spPr>
          <a:xfrm>
            <a:off x="0" y="0"/>
            <a:ext cx="9144000" cy="91440"/>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0"/>
          <p:cNvSpPr/>
          <p:nvPr/>
        </p:nvSpPr>
        <p:spPr>
          <a:xfrm>
            <a:off x="0" y="5052060"/>
            <a:ext cx="9144000" cy="91440"/>
          </a:xfrm>
          <a:prstGeom prst="rect">
            <a:avLst/>
          </a:prstGeom>
          <a:solidFill>
            <a:srgbClr val="E07B2A"/>
          </a:solidFill>
          <a:ln cap="flat" cmpd="sng" w="12700">
            <a:solidFill>
              <a:srgbClr val="E07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0"/>
          <p:cNvSpPr/>
          <p:nvPr/>
        </p:nvSpPr>
        <p:spPr>
          <a:xfrm>
            <a:off x="914400" y="1280160"/>
            <a:ext cx="7315200" cy="10058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467" name="Google Shape;467;p20"/>
          <p:cNvSpPr/>
          <p:nvPr/>
        </p:nvSpPr>
        <p:spPr>
          <a:xfrm>
            <a:off x="914400" y="2423160"/>
            <a:ext cx="7315200"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07B2A"/>
              </a:buClr>
              <a:buSzPts val="2000"/>
              <a:buFont typeface="Calibri"/>
              <a:buNone/>
            </a:pPr>
            <a:r>
              <a:rPr b="0" i="1" lang="en-US" sz="2000" u="none" cap="none" strike="noStrike">
                <a:solidFill>
                  <a:srgbClr val="E07B2A"/>
                </a:solidFill>
                <a:latin typeface="Calibri"/>
                <a:ea typeface="Calibri"/>
                <a:cs typeface="Calibri"/>
                <a:sym typeface="Calibri"/>
              </a:rPr>
              <a:t>Questions &amp; Discussion</a:t>
            </a:r>
            <a:endParaRPr b="0" i="0" sz="2000" u="none" cap="none" strike="noStrike">
              <a:solidFill>
                <a:schemeClr val="dk1"/>
              </a:solidFill>
              <a:latin typeface="Calibri"/>
              <a:ea typeface="Calibri"/>
              <a:cs typeface="Calibri"/>
              <a:sym typeface="Calibri"/>
            </a:endParaRPr>
          </a:p>
        </p:txBody>
      </p:sp>
      <p:cxnSp>
        <p:nvCxnSpPr>
          <p:cNvPr id="468" name="Google Shape;468;p20"/>
          <p:cNvCxnSpPr/>
          <p:nvPr/>
        </p:nvCxnSpPr>
        <p:spPr>
          <a:xfrm>
            <a:off x="2743200" y="3063240"/>
            <a:ext cx="3657600" cy="0"/>
          </a:xfrm>
          <a:prstGeom prst="straightConnector1">
            <a:avLst/>
          </a:prstGeom>
          <a:noFill/>
          <a:ln cap="flat" cmpd="sng" w="19050">
            <a:solidFill>
              <a:srgbClr val="3A5080"/>
            </a:solidFill>
            <a:prstDash val="solid"/>
            <a:round/>
            <a:headEnd len="sm" w="sm" type="none"/>
            <a:tailEnd len="sm" w="sm" type="none"/>
          </a:ln>
        </p:spPr>
      </p:cxnSp>
      <p:sp>
        <p:nvSpPr>
          <p:cNvPr id="469" name="Google Shape;469;p20"/>
          <p:cNvSpPr/>
          <p:nvPr/>
        </p:nvSpPr>
        <p:spPr>
          <a:xfrm>
            <a:off x="2286000" y="3291840"/>
            <a:ext cx="1188720" cy="365760"/>
          </a:xfrm>
          <a:prstGeom prst="rect">
            <a:avLst/>
          </a:prstGeom>
          <a:solidFill>
            <a:srgbClr val="1A56A0"/>
          </a:solidFill>
          <a:ln cap="flat" cmpd="sng" w="12700">
            <a:solidFill>
              <a:srgbClr val="1A56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0"/>
          <p:cNvSpPr/>
          <p:nvPr/>
        </p:nvSpPr>
        <p:spPr>
          <a:xfrm>
            <a:off x="2286000" y="329184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IMAGE</a:t>
            </a:r>
            <a:endParaRPr b="0" i="0" sz="1200" u="none" cap="none" strike="noStrike">
              <a:solidFill>
                <a:schemeClr val="dk1"/>
              </a:solidFill>
              <a:latin typeface="Calibri"/>
              <a:ea typeface="Calibri"/>
              <a:cs typeface="Calibri"/>
              <a:sym typeface="Calibri"/>
            </a:endParaRPr>
          </a:p>
        </p:txBody>
      </p:sp>
      <p:sp>
        <p:nvSpPr>
          <p:cNvPr id="471" name="Google Shape;471;p20"/>
          <p:cNvSpPr/>
          <p:nvPr/>
        </p:nvSpPr>
        <p:spPr>
          <a:xfrm>
            <a:off x="4023360" y="3291840"/>
            <a:ext cx="1188720" cy="365760"/>
          </a:xfrm>
          <a:prstGeom prst="rect">
            <a:avLst/>
          </a:prstGeom>
          <a:solidFill>
            <a:srgbClr val="1A6E3A"/>
          </a:solidFill>
          <a:ln cap="flat" cmpd="sng" w="12700">
            <a:solidFill>
              <a:srgbClr val="1A6E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0"/>
          <p:cNvSpPr/>
          <p:nvPr/>
        </p:nvSpPr>
        <p:spPr>
          <a:xfrm>
            <a:off x="4023360" y="329184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VIDEO</a:t>
            </a:r>
            <a:endParaRPr b="0" i="0" sz="1200" u="none" cap="none" strike="noStrike">
              <a:solidFill>
                <a:schemeClr val="dk1"/>
              </a:solidFill>
              <a:latin typeface="Calibri"/>
              <a:ea typeface="Calibri"/>
              <a:cs typeface="Calibri"/>
              <a:sym typeface="Calibri"/>
            </a:endParaRPr>
          </a:p>
        </p:txBody>
      </p:sp>
      <p:sp>
        <p:nvSpPr>
          <p:cNvPr id="473" name="Google Shape;473;p20"/>
          <p:cNvSpPr/>
          <p:nvPr/>
        </p:nvSpPr>
        <p:spPr>
          <a:xfrm>
            <a:off x="5760720" y="3291840"/>
            <a:ext cx="1188720" cy="365760"/>
          </a:xfrm>
          <a:prstGeom prst="rect">
            <a:avLst/>
          </a:prstGeom>
          <a:solidFill>
            <a:srgbClr val="5E3A9A"/>
          </a:solidFill>
          <a:ln cap="flat" cmpd="sng" w="12700">
            <a:solidFill>
              <a:srgbClr val="5E3A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p:nvPr/>
        </p:nvSpPr>
        <p:spPr>
          <a:xfrm>
            <a:off x="5760720" y="3291840"/>
            <a:ext cx="11887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AUDIO</a:t>
            </a:r>
            <a:endParaRPr b="0" i="0" sz="1200" u="none" cap="none" strike="noStrike">
              <a:solidFill>
                <a:schemeClr val="dk1"/>
              </a:solidFill>
              <a:latin typeface="Calibri"/>
              <a:ea typeface="Calibri"/>
              <a:cs typeface="Calibri"/>
              <a:sym typeface="Calibri"/>
            </a:endParaRPr>
          </a:p>
        </p:txBody>
      </p:sp>
      <p:sp>
        <p:nvSpPr>
          <p:cNvPr id="475" name="Google Shape;475;p20"/>
          <p:cNvSpPr/>
          <p:nvPr/>
        </p:nvSpPr>
        <p:spPr>
          <a:xfrm>
            <a:off x="914400" y="3840480"/>
            <a:ext cx="731520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090B0"/>
              </a:buClr>
              <a:buSzPts val="1100"/>
              <a:buFont typeface="Calibri"/>
              <a:buNone/>
            </a:pPr>
            <a:r>
              <a:rPr b="0" i="0" lang="en-US" sz="1100" u="none" cap="none" strike="noStrike">
                <a:solidFill>
                  <a:srgbClr val="7090B0"/>
                </a:solidFill>
                <a:latin typeface="Calibri"/>
                <a:ea typeface="Calibri"/>
                <a:cs typeface="Calibri"/>
                <a:sym typeface="Calibri"/>
              </a:rPr>
              <a:t>Deepfake Detection — Image · Video · Audio  |  Sab</a:t>
            </a:r>
            <a:r>
              <a:rPr lang="en-US" sz="1100">
                <a:solidFill>
                  <a:srgbClr val="7090B0"/>
                </a:solidFill>
                <a:latin typeface="Calibri"/>
                <a:ea typeface="Calibri"/>
                <a:cs typeface="Calibri"/>
                <a:sym typeface="Calibri"/>
              </a:rPr>
              <a:t>ud</a:t>
            </a:r>
            <a:r>
              <a:rPr b="0" i="0" lang="en-US" sz="1100" u="none" cap="none" strike="noStrike">
                <a:solidFill>
                  <a:srgbClr val="7090B0"/>
                </a:solidFill>
                <a:latin typeface="Calibri"/>
                <a:ea typeface="Calibri"/>
                <a:cs typeface="Calibri"/>
                <a:sym typeface="Calibri"/>
              </a:rPr>
              <a:t>h Foundation  |  March 202</a:t>
            </a:r>
            <a:r>
              <a:rPr lang="en-US" sz="1100">
                <a:solidFill>
                  <a:srgbClr val="7090B0"/>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222F88"/>
      </a:dk1>
      <a:lt1>
        <a:srgbClr val="ECE1E1"/>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2026-03-19T07:49:54Z</dcterms:created>
  <dc:creator>PptxGenJS</dc:creator>
</cp:coreProperties>
</file>